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ppt/tags/tag4.xml" ContentType="application/vnd.openxmlformats-officedocument.presentationml.tags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6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7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8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2" r:id="rId1"/>
  </p:sldMasterIdLst>
  <p:notesMasterIdLst>
    <p:notesMasterId r:id="rId35"/>
  </p:notesMasterIdLst>
  <p:sldIdLst>
    <p:sldId id="256" r:id="rId2"/>
    <p:sldId id="262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2" r:id="rId18"/>
    <p:sldId id="301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316" r:id="rId32"/>
    <p:sldId id="318" r:id="rId33"/>
    <p:sldId id="286" r:id="rId34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نمط فاتح 1 - تميي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نمط فاتح 1 - تميي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نمط متوسط 2 - تميي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67034" autoAdjust="0"/>
  </p:normalViewPr>
  <p:slideViewPr>
    <p:cSldViewPr snapToGrid="0">
      <p:cViewPr varScale="1">
        <p:scale>
          <a:sx n="59" d="100"/>
          <a:sy n="59" d="100"/>
        </p:scale>
        <p:origin x="161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8D3C1FD7-A514-41F4-8B01-9D5023010689}" type="datetimeFigureOut">
              <a:rPr lang="ar-SA" smtClean="0"/>
              <a:t>06/06/47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0856A700-1D68-48DA-9747-8DCFC9D6F43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5209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3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ar-SA" b="1" dirty="0" smtClean="0"/>
              <a:t>جميع عمليات الاتصال تتحكم فيها بروتوكولات.</a:t>
            </a:r>
            <a:br>
              <a:rPr lang="ar-SA" b="1" dirty="0" smtClean="0"/>
            </a:br>
            <a:r>
              <a:rPr lang="ar-SA" b="1" dirty="0" smtClean="0"/>
              <a:t>البروتوكولات هي القواعد التي يجب أن تتبعها عملية الاتصال.</a:t>
            </a:r>
            <a:br>
              <a:rPr lang="ar-SA" b="1" dirty="0" smtClean="0"/>
            </a:br>
            <a:r>
              <a:rPr lang="ar-SA" b="1" dirty="0" smtClean="0"/>
              <a:t>وتختلف هذه القواعد باختلاف نوع البروتوكول المستخدم.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471516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4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b="1" dirty="0" smtClean="0"/>
              <a:t>يجب أن تكون بروتوكولات الحاسوب الشائعة مُتوافقة فيما بينها، وتشمل المتطلبات التالية:</a:t>
            </a:r>
          </a:p>
          <a:p>
            <a:endParaRPr lang="ar-SA" dirty="0" smtClean="0"/>
          </a:p>
          <a:p>
            <a:r>
              <a:rPr lang="ar-SA" b="1" dirty="0" smtClean="0"/>
              <a:t>ترميز الرسائل</a:t>
            </a:r>
            <a:endParaRPr lang="ar-SA" dirty="0" smtClean="0"/>
          </a:p>
          <a:p>
            <a:r>
              <a:rPr lang="ar-SA" b="1" dirty="0" smtClean="0"/>
              <a:t>تنسيق الرسائل وتغليفها</a:t>
            </a:r>
            <a:endParaRPr lang="ar-SA" dirty="0" smtClean="0"/>
          </a:p>
          <a:p>
            <a:r>
              <a:rPr lang="ar-SA" b="1" dirty="0" smtClean="0"/>
              <a:t>حجم الرسالة</a:t>
            </a:r>
            <a:endParaRPr lang="ar-SA" dirty="0" smtClean="0"/>
          </a:p>
          <a:p>
            <a:r>
              <a:rPr lang="ar-SA" b="1" dirty="0" smtClean="0"/>
              <a:t>توقيت الرسالة</a:t>
            </a:r>
            <a:endParaRPr lang="ar-SA" dirty="0" smtClean="0"/>
          </a:p>
          <a:p>
            <a:r>
              <a:rPr lang="ar-SA" b="1" dirty="0" smtClean="0"/>
              <a:t>خيارات تسليم الرسائل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996976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5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b="1" dirty="0" smtClean="0"/>
              <a:t>الترميز </a:t>
            </a:r>
            <a:r>
              <a:rPr lang="en-US" b="1" dirty="0" smtClean="0"/>
              <a:t>Encoding</a:t>
            </a:r>
            <a:r>
              <a:rPr lang="en-US" dirty="0" smtClean="0"/>
              <a:t> </a:t>
            </a:r>
            <a:r>
              <a:rPr lang="ar-SA" dirty="0" smtClean="0"/>
              <a:t> هو عملية تحويل المعلومات من شكلها الأصلي إلى شكل آخر مقبول أو مناسب من أجل إرسالها أو نقلها.</a:t>
            </a:r>
          </a:p>
          <a:p>
            <a:r>
              <a:rPr lang="ar-SA" b="1" dirty="0" smtClean="0"/>
              <a:t>فك الترميز </a:t>
            </a:r>
            <a:r>
              <a:rPr lang="en-US" b="1" dirty="0" smtClean="0"/>
              <a:t>Decoding</a:t>
            </a:r>
            <a:r>
              <a:rPr lang="en-US" dirty="0" smtClean="0"/>
              <a:t> </a:t>
            </a:r>
            <a:r>
              <a:rPr lang="ar-SA" dirty="0" smtClean="0"/>
              <a:t> هو عكس هذه العملية، حيث يتم إعادة تحويل المعلومات إلى شكلها الأصلي لفهمها وتفسيرها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309300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6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ar-SA" dirty="0" smtClean="0"/>
              <a:t>عندما يتم إرسال رسالة، يجب أن تستخدم صيغة أو بنية محددة.</a:t>
            </a:r>
            <a:br>
              <a:rPr lang="ar-SA" dirty="0" smtClean="0"/>
            </a:br>
            <a:r>
              <a:rPr lang="ar-SA" dirty="0" smtClean="0"/>
              <a:t>وتعتمد صيغ الرسائل على نوع الرسالة والقناة المستخدمة لإيصالها.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565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7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dirty="0" smtClean="0"/>
              <a:t>يجب أن يكون </a:t>
            </a:r>
            <a:r>
              <a:rPr lang="ar-SA" b="1" dirty="0" smtClean="0"/>
              <a:t>الترميز بين الأجهزة</a:t>
            </a:r>
            <a:r>
              <a:rPr lang="ar-SA" dirty="0" smtClean="0"/>
              <a:t> بصيغة مناسبة لوسيط النقل المستخدم.</a:t>
            </a:r>
          </a:p>
          <a:p>
            <a:r>
              <a:rPr lang="ar-SA" dirty="0" smtClean="0"/>
              <a:t>يتم </a:t>
            </a:r>
            <a:r>
              <a:rPr lang="ar-SA" b="1" dirty="0" smtClean="0"/>
              <a:t>تحويل الرسائل المرسلة عبر الشبكة إلى وحدات بت </a:t>
            </a:r>
            <a:r>
              <a:rPr lang="en-US" b="1" dirty="0" smtClean="0"/>
              <a:t>Bits</a:t>
            </a:r>
            <a:endParaRPr lang="ar-SA" b="1" dirty="0" smtClean="0"/>
          </a:p>
          <a:p>
            <a:r>
              <a:rPr lang="ar-SA" dirty="0" smtClean="0"/>
              <a:t>يتم </a:t>
            </a:r>
            <a:r>
              <a:rPr lang="ar-SA" b="1" dirty="0" smtClean="0"/>
              <a:t>ترميز هذه البتّات</a:t>
            </a:r>
            <a:r>
              <a:rPr lang="ar-SA" dirty="0" smtClean="0"/>
              <a:t> على شكل نمط من </a:t>
            </a:r>
            <a:r>
              <a:rPr lang="ar-SA" b="1" dirty="0" smtClean="0"/>
              <a:t>الضوء أو الصوت أو النبضات الكهربائية</a:t>
            </a:r>
            <a:r>
              <a:rPr lang="ar-SA" dirty="0" smtClean="0"/>
              <a:t>.</a:t>
            </a:r>
          </a:p>
          <a:p>
            <a:r>
              <a:rPr lang="ar-SA" dirty="0" smtClean="0"/>
              <a:t>يجب على </a:t>
            </a:r>
            <a:r>
              <a:rPr lang="ar-SA" b="1" dirty="0" smtClean="0"/>
              <a:t>الجهاز المستقبِل</a:t>
            </a:r>
            <a:r>
              <a:rPr lang="ar-SA" dirty="0" smtClean="0"/>
              <a:t> أن يقوم </a:t>
            </a:r>
            <a:r>
              <a:rPr lang="ar-SA" b="1" dirty="0" smtClean="0"/>
              <a:t>بفك ترميز هذه الإشارات</a:t>
            </a:r>
            <a:r>
              <a:rPr lang="ar-SA" dirty="0" smtClean="0"/>
              <a:t> ليتمكن من فهم الرسالة.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03868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8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b="1" dirty="0" smtClean="0"/>
              <a:t>تضمّن توقيت الرسائل ما يلي:</a:t>
            </a:r>
          </a:p>
          <a:p>
            <a:endParaRPr lang="ar-SA" dirty="0" smtClean="0"/>
          </a:p>
          <a:p>
            <a:r>
              <a:rPr lang="ar-SA" b="1" dirty="0" smtClean="0"/>
              <a:t>التحكّم في التدفّق </a:t>
            </a:r>
            <a:r>
              <a:rPr lang="en-US" b="1" dirty="0" smtClean="0"/>
              <a:t>  Flow Control</a:t>
            </a:r>
            <a:r>
              <a:rPr lang="en-US" dirty="0" smtClean="0"/>
              <a:t> </a:t>
            </a:r>
            <a:r>
              <a:rPr lang="ar-SA" dirty="0" smtClean="0"/>
              <a:t>يقوم بإدارة سرعة إرسال البيانات، ويحدّد كمية المعلومات المسموح بإرسالها، والسرعة التي يمكن إرسالها بها</a:t>
            </a:r>
            <a:r>
              <a:rPr lang="ar-SA" dirty="0" smtClean="0"/>
              <a:t>.</a:t>
            </a:r>
          </a:p>
          <a:p>
            <a:endParaRPr lang="ar-SA" dirty="0" smtClean="0"/>
          </a:p>
          <a:p>
            <a:r>
              <a:rPr lang="ar-SA" b="1" dirty="0" smtClean="0"/>
              <a:t>مهلة الاستجابة</a:t>
            </a:r>
            <a:r>
              <a:rPr lang="ar-SA" b="1" baseline="0" dirty="0" smtClean="0"/>
              <a:t> </a:t>
            </a:r>
            <a:r>
              <a:rPr lang="en-US" b="1" baseline="0" dirty="0" smtClean="0"/>
              <a:t>  </a:t>
            </a:r>
            <a:r>
              <a:rPr lang="en-US" b="1" dirty="0" smtClean="0"/>
              <a:t>Response Timeout</a:t>
            </a:r>
            <a:r>
              <a:rPr lang="en-US" b="1" baseline="0" dirty="0" smtClean="0"/>
              <a:t> </a:t>
            </a:r>
            <a:r>
              <a:rPr lang="ar-SA" dirty="0" smtClean="0"/>
              <a:t>يحدّد المدّة التي ينتظر فيها الجهاز ردًّا من الوجهة قبل أن يفترض عدم وجود استجابة</a:t>
            </a:r>
            <a:r>
              <a:rPr lang="ar-SA" dirty="0" smtClean="0"/>
              <a:t>.</a:t>
            </a:r>
          </a:p>
          <a:p>
            <a:endParaRPr lang="ar-SA" dirty="0" smtClean="0"/>
          </a:p>
          <a:p>
            <a:r>
              <a:rPr lang="ar-SA" b="1" dirty="0" smtClean="0"/>
              <a:t>طريقة الوصول </a:t>
            </a:r>
            <a:r>
              <a:rPr lang="en-US" b="1" dirty="0" smtClean="0"/>
              <a:t>Access Method</a:t>
            </a:r>
            <a:r>
              <a:rPr lang="en-US" dirty="0" smtClean="0"/>
              <a:t> </a:t>
            </a:r>
            <a:r>
              <a:rPr lang="ar-SA" dirty="0" smtClean="0"/>
              <a:t>    تحدّد الوقت الذي يُسمح فيه للجهاز بإرسال رسالة.</a:t>
            </a:r>
          </a:p>
          <a:p>
            <a:endParaRPr lang="ar-SA" dirty="0" smtClean="0"/>
          </a:p>
          <a:p>
            <a:r>
              <a:rPr lang="ar-SA" dirty="0" smtClean="0"/>
              <a:t>قد توجد قواعد مختلفة لمعالجة مشكلات مثل </a:t>
            </a:r>
            <a:r>
              <a:rPr lang="ar-SA" b="1" dirty="0" smtClean="0"/>
              <a:t>"التصادمات"</a:t>
            </a:r>
            <a:r>
              <a:rPr lang="ar-SA" dirty="0" smtClean="0"/>
              <a:t>، وهي الحالات التي يرسل فيها أكثر من جهاز البيانات في الوقت نفسه، مما يؤدي إلى تلف الرسائل.</a:t>
            </a:r>
          </a:p>
          <a:p>
            <a:endParaRPr lang="ar-SA" dirty="0" smtClean="0"/>
          </a:p>
          <a:p>
            <a:r>
              <a:rPr lang="ar-SA" dirty="0" smtClean="0"/>
              <a:t>بعض البروتوكولات تتصرّف بشكل </a:t>
            </a:r>
            <a:r>
              <a:rPr lang="ar-SA" b="1" dirty="0" smtClean="0"/>
              <a:t>استباقي</a:t>
            </a:r>
            <a:r>
              <a:rPr lang="ar-SA" dirty="0" smtClean="0"/>
              <a:t> لمنع حدوث التصادمات، بينما بروتوكولات أخرى تكون </a:t>
            </a:r>
            <a:r>
              <a:rPr lang="ar-SA" b="1" dirty="0" smtClean="0"/>
              <a:t>تفاعلية</a:t>
            </a:r>
            <a:r>
              <a:rPr lang="ar-SA" dirty="0" smtClean="0"/>
              <a:t>، حيث تضع طريقة للتعافي بعد حدوث التصادم.</a:t>
            </a:r>
          </a:p>
          <a:p>
            <a:pPr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018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9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b="1" dirty="0" smtClean="0"/>
              <a:t>قد تتم عملية توصيل الرسائل بإحدى الطرق التالية:</a:t>
            </a:r>
          </a:p>
          <a:p>
            <a:endParaRPr lang="ar-SA" dirty="0" smtClean="0"/>
          </a:p>
          <a:p>
            <a:r>
              <a:rPr lang="en-US" b="1" dirty="0" smtClean="0"/>
              <a:t> Unicast </a:t>
            </a:r>
            <a:r>
              <a:rPr lang="ar-SA" b="1" dirty="0" smtClean="0"/>
              <a:t>إرسال أحادي</a:t>
            </a:r>
            <a:r>
              <a:rPr lang="ar-SA" b="1" baseline="0" dirty="0" smtClean="0"/>
              <a:t> </a:t>
            </a:r>
            <a:r>
              <a:rPr lang="ar-SA" b="1" dirty="0" smtClean="0"/>
              <a:t>:</a:t>
            </a:r>
            <a:r>
              <a:rPr lang="ar-SA" dirty="0" smtClean="0"/>
              <a:t> اتصال من واحد إلى واحد.</a:t>
            </a:r>
          </a:p>
          <a:p>
            <a:r>
              <a:rPr lang="en-US" b="1" dirty="0" smtClean="0"/>
              <a:t>Multicast </a:t>
            </a:r>
            <a:r>
              <a:rPr lang="ar-SA" b="1" dirty="0" smtClean="0"/>
              <a:t>  إرسال متعدد</a:t>
            </a:r>
            <a:r>
              <a:rPr lang="ar-SA" b="1" baseline="0" dirty="0" smtClean="0"/>
              <a:t> </a:t>
            </a:r>
            <a:r>
              <a:rPr lang="ar-SA" b="1" dirty="0" smtClean="0"/>
              <a:t>:</a:t>
            </a:r>
            <a:r>
              <a:rPr lang="ar-SA" dirty="0" smtClean="0"/>
              <a:t> من واحد إلى عدة أجهزة، ولكن ليس لجميع الأجهزة.</a:t>
            </a:r>
          </a:p>
          <a:p>
            <a:r>
              <a:rPr lang="en-US" b="1" dirty="0" smtClean="0"/>
              <a:t>  Broadcast </a:t>
            </a:r>
            <a:r>
              <a:rPr lang="ar-SA" b="1" dirty="0" smtClean="0"/>
              <a:t>بث عام</a:t>
            </a:r>
            <a:r>
              <a:rPr lang="ar-SA" b="1" baseline="0" dirty="0" smtClean="0"/>
              <a:t> </a:t>
            </a:r>
            <a:r>
              <a:rPr lang="ar-SA" b="1" dirty="0" smtClean="0"/>
              <a:t>:</a:t>
            </a:r>
            <a:r>
              <a:rPr lang="ar-SA" dirty="0" smtClean="0"/>
              <a:t> من واحد إلى جميع الأجهزة.</a:t>
            </a:r>
          </a:p>
          <a:p>
            <a:endParaRPr lang="ar-SA" dirty="0" smtClean="0"/>
          </a:p>
          <a:p>
            <a:r>
              <a:rPr lang="ar-SA" b="1" dirty="0" smtClean="0"/>
              <a:t>ملاحظة:</a:t>
            </a:r>
            <a:r>
              <a:rPr lang="ar-SA" dirty="0" smtClean="0"/>
              <a:t/>
            </a:r>
            <a:br>
              <a:rPr lang="ar-SA" dirty="0" smtClean="0"/>
            </a:br>
            <a:r>
              <a:rPr lang="ar-SA" dirty="0" smtClean="0"/>
              <a:t>يتم استخدام البث العام </a:t>
            </a:r>
            <a:r>
              <a:rPr lang="en-US" i="1" dirty="0" smtClean="0"/>
              <a:t>Broadcast</a:t>
            </a:r>
            <a:r>
              <a:rPr lang="en-US" dirty="0" smtClean="0"/>
              <a:t> </a:t>
            </a:r>
            <a:r>
              <a:rPr lang="ar-SA" dirty="0" smtClean="0"/>
              <a:t>في شبكات </a:t>
            </a:r>
            <a:r>
              <a:rPr lang="en-US" b="1" dirty="0" smtClean="0"/>
              <a:t>IPv4</a:t>
            </a:r>
            <a:r>
              <a:rPr lang="en-US" dirty="0" smtClean="0"/>
              <a:t>، </a:t>
            </a:r>
            <a:r>
              <a:rPr lang="ar-SA" dirty="0" smtClean="0"/>
              <a:t>لكنه </a:t>
            </a:r>
            <a:r>
              <a:rPr lang="ar-SA" b="1" dirty="0" smtClean="0"/>
              <a:t>غير متوفر</a:t>
            </a:r>
            <a:r>
              <a:rPr lang="ar-SA" dirty="0" smtClean="0"/>
              <a:t> في </a:t>
            </a:r>
            <a:r>
              <a:rPr lang="en-US" b="1" dirty="0" smtClean="0"/>
              <a:t>IPv6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ar-SA" dirty="0" smtClean="0"/>
              <a:t>وسنرى لاحقًا وجود طريقة إضافية في </a:t>
            </a:r>
            <a:r>
              <a:rPr lang="en-US" dirty="0" smtClean="0"/>
              <a:t>IPv6 </a:t>
            </a:r>
            <a:r>
              <a:rPr lang="ar-SA" dirty="0" smtClean="0"/>
              <a:t>تُسمّى </a:t>
            </a:r>
            <a:r>
              <a:rPr lang="en-US" b="1" dirty="0" err="1" smtClean="0"/>
              <a:t>Anycast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452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3.2 – Protocols</a:t>
            </a:r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984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11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dirty="0" smtClean="0"/>
              <a:t>بروتوكولات الشبكة تُحدد مجموعة مشتركة من القواعد.</a:t>
            </a:r>
          </a:p>
          <a:p>
            <a:r>
              <a:rPr lang="ar-SA" dirty="0" smtClean="0"/>
              <a:t/>
            </a:r>
            <a:br>
              <a:rPr lang="ar-SA" dirty="0" smtClean="0"/>
            </a:br>
            <a:r>
              <a:rPr lang="ar-SA" dirty="0" smtClean="0"/>
              <a:t>يمكن تنفيذها على الأجهزة من خلال:</a:t>
            </a:r>
          </a:p>
          <a:p>
            <a:r>
              <a:rPr lang="ar-SA" dirty="0" smtClean="0"/>
              <a:t>البرمجيات</a:t>
            </a:r>
          </a:p>
          <a:p>
            <a:r>
              <a:rPr lang="ar-SA" dirty="0" smtClean="0"/>
              <a:t>العتاد (الأجهزة)</a:t>
            </a:r>
          </a:p>
          <a:p>
            <a:r>
              <a:rPr lang="ar-SA" dirty="0" smtClean="0"/>
              <a:t>أو كلاهما معًا</a:t>
            </a:r>
          </a:p>
          <a:p>
            <a:endParaRPr lang="ar-SA" dirty="0" smtClean="0"/>
          </a:p>
          <a:p>
            <a:r>
              <a:rPr lang="ar-SA" dirty="0" smtClean="0"/>
              <a:t>لكل بروتوكول خصائصه الخاصة من حيث:</a:t>
            </a:r>
          </a:p>
          <a:p>
            <a:r>
              <a:rPr lang="ar-SA" dirty="0" smtClean="0"/>
              <a:t>الوظيفة التي يؤديها</a:t>
            </a:r>
          </a:p>
          <a:p>
            <a:r>
              <a:rPr lang="ar-SA" dirty="0" smtClean="0"/>
              <a:t>الشكل أو التنسيق (</a:t>
            </a:r>
            <a:r>
              <a:rPr lang="en-US" dirty="0" smtClean="0"/>
              <a:t>Format)</a:t>
            </a:r>
          </a:p>
          <a:p>
            <a:r>
              <a:rPr lang="ar-SA" dirty="0" smtClean="0"/>
              <a:t>القواعد التي يجب اتباعها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189603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12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ar-SA" dirty="0" smtClean="0"/>
              <a:t>تستخدم الأجهزة بروتوكولات متفق عليها للتواصل.</a:t>
            </a:r>
            <a:br>
              <a:rPr lang="ar-SA" dirty="0" smtClean="0"/>
            </a:br>
            <a:r>
              <a:rPr lang="ar-SA" dirty="0" smtClean="0"/>
              <a:t>قد يحتوي البروتوكول على وظيفة واحدة أو أكثر.</a:t>
            </a:r>
          </a:p>
          <a:p>
            <a:pPr>
              <a:buFontTx/>
              <a:buNone/>
            </a:pPr>
            <a:endParaRPr lang="ar-SA" sz="1200" kern="1200" dirty="0" smtClean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Tx/>
              <a:buNone/>
            </a:pPr>
            <a:r>
              <a:rPr lang="ar-SA" dirty="0" smtClean="0"/>
              <a:t>يوفر توصيل مضمون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2314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13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ar-SA" dirty="0" smtClean="0"/>
              <a:t>الشبكات تتطلب استخدام عدة بروتوكولات.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ar-SA" dirty="0" smtClean="0"/>
              <a:t> كل بروتوكول له وظيفته الخاصة وشكله أو صياغته المحددة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37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3.3 – Protocol</a:t>
            </a:r>
            <a:r>
              <a:rPr lang="en-US" sz="1200" b="0" baseline="0" dirty="0"/>
              <a:t> Suites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9604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b="1" dirty="0" smtClean="0"/>
              <a:t>تطور مجموعات البروتوكولات</a:t>
            </a:r>
          </a:p>
          <a:p>
            <a:r>
              <a:rPr lang="ar-SA" dirty="0" smtClean="0"/>
              <a:t/>
            </a:r>
            <a:br>
              <a:rPr lang="ar-SA" dirty="0" smtClean="0"/>
            </a:br>
            <a:r>
              <a:rPr lang="ar-SA" dirty="0" smtClean="0"/>
              <a:t>هناك عدة مجموعات من البروتوكولات:</a:t>
            </a:r>
          </a:p>
          <a:p>
            <a:endParaRPr lang="ar-SA" dirty="0" smtClean="0"/>
          </a:p>
          <a:p>
            <a:r>
              <a:rPr lang="ar-SA" b="1" dirty="0" smtClean="0"/>
              <a:t>مجموعة بروتوكولات الإنترنت </a:t>
            </a:r>
            <a:r>
              <a:rPr lang="en-US" b="1" dirty="0" smtClean="0"/>
              <a:t>  TCP/IP</a:t>
            </a:r>
            <a:r>
              <a:rPr lang="en-US" dirty="0" smtClean="0"/>
              <a:t> </a:t>
            </a:r>
            <a:r>
              <a:rPr lang="ar-SA" dirty="0" smtClean="0"/>
              <a:t>أكثر مجموعة بروتوكولات شيوعًا، وتتم صيانتها وإدارتها من قبل </a:t>
            </a:r>
            <a:r>
              <a:rPr lang="ar-SA" b="1" dirty="0" smtClean="0"/>
              <a:t>هيئة هندسة الإنترنت </a:t>
            </a:r>
            <a:r>
              <a:rPr lang="en-US" b="1" dirty="0" smtClean="0"/>
              <a:t>IETF</a:t>
            </a:r>
            <a:r>
              <a:rPr lang="en-US" b="1" baseline="0" dirty="0" smtClean="0"/>
              <a:t> </a:t>
            </a:r>
            <a:endParaRPr lang="ar-SA" b="1" baseline="0" dirty="0" smtClean="0"/>
          </a:p>
          <a:p>
            <a:endParaRPr lang="en-US" dirty="0" smtClean="0"/>
          </a:p>
          <a:p>
            <a:r>
              <a:rPr lang="ar-SA" b="1" dirty="0" smtClean="0"/>
              <a:t>بروتوكولات الربط بين الأنظمة المفتوحة </a:t>
            </a:r>
            <a:r>
              <a:rPr lang="en-US" b="1" dirty="0" smtClean="0"/>
              <a:t>OSI</a:t>
            </a:r>
            <a:r>
              <a:rPr lang="en-US" dirty="0" smtClean="0"/>
              <a:t> </a:t>
            </a:r>
            <a:r>
              <a:rPr lang="ar-SA" dirty="0" smtClean="0"/>
              <a:t> تم تطويرها بواسطة </a:t>
            </a:r>
            <a:r>
              <a:rPr lang="ar-SA" b="1" dirty="0" smtClean="0"/>
              <a:t>المنظمة الدولية للمعايير </a:t>
            </a:r>
            <a:r>
              <a:rPr lang="en-US" b="1" dirty="0" smtClean="0"/>
              <a:t> ISO</a:t>
            </a:r>
            <a:r>
              <a:rPr lang="en-US" dirty="0" smtClean="0"/>
              <a:t> </a:t>
            </a:r>
            <a:r>
              <a:rPr lang="ar-SA" dirty="0" smtClean="0"/>
              <a:t>و</a:t>
            </a:r>
            <a:r>
              <a:rPr lang="ar-SA" b="1" dirty="0" smtClean="0"/>
              <a:t>الاتحاد الدولي للاتصالات </a:t>
            </a:r>
            <a:r>
              <a:rPr lang="en-US" b="1" dirty="0" smtClean="0"/>
              <a:t>ITU</a:t>
            </a:r>
            <a:r>
              <a:rPr lang="en-US" dirty="0" smtClean="0"/>
              <a:t>.</a:t>
            </a:r>
            <a:endParaRPr lang="ar-SA" dirty="0" smtClean="0"/>
          </a:p>
          <a:p>
            <a:endParaRPr lang="en-US" dirty="0" smtClean="0"/>
          </a:p>
          <a:p>
            <a:r>
              <a:rPr lang="en-US" b="1" dirty="0" smtClean="0"/>
              <a:t>  AppleTalk</a:t>
            </a:r>
            <a:r>
              <a:rPr lang="en-US" dirty="0" smtClean="0"/>
              <a:t>: </a:t>
            </a:r>
            <a:r>
              <a:rPr lang="ar-SA" dirty="0" smtClean="0"/>
              <a:t>مجموعة بروتوكولات خاصة أصدرتها شركة </a:t>
            </a:r>
            <a:r>
              <a:rPr lang="en-US" b="1" dirty="0" smtClean="0"/>
              <a:t>Apple Inc.</a:t>
            </a:r>
            <a:endParaRPr lang="en-US" dirty="0" smtClean="0"/>
          </a:p>
          <a:p>
            <a:r>
              <a:rPr lang="en-US" b="1" dirty="0" smtClean="0"/>
              <a:t>   Novell NetWare</a:t>
            </a:r>
            <a:r>
              <a:rPr lang="en-US" dirty="0" smtClean="0"/>
              <a:t>: </a:t>
            </a:r>
            <a:r>
              <a:rPr lang="ar-SA" dirty="0" smtClean="0"/>
              <a:t>مجموعة بروتوكولات خاصة تم تطويرها بواسطة شركة </a:t>
            </a:r>
            <a:r>
              <a:rPr lang="en-US" b="1" dirty="0" smtClean="0"/>
              <a:t>Novell Inc.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5841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 smtClean="0"/>
              <a:t>بروتوكولات </a:t>
            </a:r>
            <a:r>
              <a:rPr lang="en-US" b="1" dirty="0" smtClean="0"/>
              <a:t>TCP/IP</a:t>
            </a:r>
            <a:r>
              <a:rPr lang="en-US" dirty="0" smtClean="0"/>
              <a:t> </a:t>
            </a:r>
            <a:r>
              <a:rPr lang="ar-SA" dirty="0" smtClean="0"/>
              <a:t>تعمل على </a:t>
            </a:r>
            <a:r>
              <a:rPr lang="ar-SA" b="1" dirty="0" smtClean="0"/>
              <a:t>طبقات التطبيق، النقل، والإنترنت</a:t>
            </a:r>
            <a:r>
              <a:rPr lang="ar-SA" dirty="0" smtClean="0"/>
              <a:t>.</a:t>
            </a:r>
            <a:br>
              <a:rPr lang="ar-SA" dirty="0" smtClean="0"/>
            </a:br>
            <a:r>
              <a:rPr lang="ar-SA" dirty="0" smtClean="0"/>
              <a:t>أما أكثر بروتوكولات </a:t>
            </a:r>
            <a:r>
              <a:rPr lang="ar-SA" b="1" dirty="0" smtClean="0"/>
              <a:t>شبكة الوصول</a:t>
            </a:r>
            <a:r>
              <a:rPr lang="ar-SA" dirty="0" smtClean="0"/>
              <a:t> شيوعًا في الشبكات المحلية فهي </a:t>
            </a:r>
            <a:r>
              <a:rPr lang="en-US" b="1" dirty="0" smtClean="0"/>
              <a:t>Ethernet</a:t>
            </a:r>
            <a:r>
              <a:rPr lang="en-US" dirty="0" smtClean="0"/>
              <a:t> </a:t>
            </a:r>
            <a:r>
              <a:rPr lang="ar-SA" dirty="0" smtClean="0"/>
              <a:t>و </a:t>
            </a:r>
            <a:r>
              <a:rPr lang="en-US" dirty="0" smtClean="0"/>
              <a:t> </a:t>
            </a:r>
            <a:r>
              <a:rPr lang="en-US" b="1" dirty="0" smtClean="0"/>
              <a:t>WLAN</a:t>
            </a:r>
            <a:r>
              <a:rPr lang="en-US" dirty="0" smtClean="0"/>
              <a:t> </a:t>
            </a:r>
            <a:r>
              <a:rPr lang="ar-SA" dirty="0" smtClean="0"/>
              <a:t>الشبكة المحلية اللاسلكية).</a:t>
            </a:r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3106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b="1" dirty="0" smtClean="0"/>
              <a:t>خادم الويب</a:t>
            </a:r>
            <a:r>
              <a:rPr lang="ar-SA" dirty="0" smtClean="0"/>
              <a:t>: يقوم بتغليف صفحة الويب وإرسالها إلى العميل.</a:t>
            </a:r>
          </a:p>
          <a:p>
            <a:r>
              <a:rPr lang="ar-SA" b="1" dirty="0" smtClean="0"/>
              <a:t>العميل</a:t>
            </a:r>
            <a:r>
              <a:rPr lang="ar-SA" dirty="0" smtClean="0"/>
              <a:t>: يقوم بفك تغليف صفحة الويب لعرضها في متصفح الإنترنت.</a:t>
            </a:r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03667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TCP/IP</a:t>
            </a:r>
            <a:r>
              <a:rPr lang="en-US" dirty="0" smtClean="0"/>
              <a:t> </a:t>
            </a:r>
            <a:r>
              <a:rPr lang="ar-SA" dirty="0" smtClean="0"/>
              <a:t>هو مجموعة بروتوكولات تُستخدم في الإنترنت وتشمل العديد من البروتوكولات الفرعية.</a:t>
            </a:r>
          </a:p>
          <a:p>
            <a:r>
              <a:rPr lang="en-US" dirty="0" smtClean="0"/>
              <a:t>TCP/IP </a:t>
            </a:r>
            <a:r>
              <a:rPr lang="ar-SA" dirty="0" smtClean="0"/>
              <a:t>هو:</a:t>
            </a:r>
          </a:p>
          <a:p>
            <a:endParaRPr lang="ar-SA" dirty="0" smtClean="0"/>
          </a:p>
          <a:p>
            <a:r>
              <a:rPr lang="ar-SA" b="1" dirty="0" smtClean="0"/>
              <a:t>مجموعة بروتوكولات معيارية مفتوحة</a:t>
            </a:r>
            <a:r>
              <a:rPr lang="ar-SA" dirty="0" smtClean="0"/>
              <a:t>، متاحة للجميع ويمكن لأي شركة أو بائع استخدامها بحرية.</a:t>
            </a:r>
          </a:p>
          <a:p>
            <a:r>
              <a:rPr lang="ar-SA" b="1" dirty="0" smtClean="0"/>
              <a:t>مجموعة بروتوكولات معتمدة على المعايير</a:t>
            </a:r>
            <a:r>
              <a:rPr lang="ar-SA" dirty="0" smtClean="0"/>
              <a:t>، تحظى بتأييد صناعة الشبكات وموافقة منظمة معايير لضمان التوافق والعمل المشترك بين الأنظمة المختلفة.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9378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3.5 – Reference Models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0093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 smtClean="0"/>
              <a:t>المفاهيم المعقدة مثل كيفية عمل الشبكة قد تكون صعبة الشرح والفهم. لهذا السبب، يتم استخدام نموذج طبقي.</a:t>
            </a:r>
            <a:br>
              <a:rPr lang="ar-SA" dirty="0" smtClean="0"/>
            </a:br>
            <a:r>
              <a:rPr lang="ar-SA" dirty="0" smtClean="0"/>
              <a:t>هناك نموذجان طبقيان يصفان عمليات الشبكة:</a:t>
            </a:r>
          </a:p>
          <a:p>
            <a:endParaRPr lang="ar-SA" dirty="0" smtClean="0"/>
          </a:p>
          <a:p>
            <a:r>
              <a:rPr lang="ar-SA" b="1" dirty="0" smtClean="0"/>
              <a:t>نموذج مرجعي لتوصيل الأنظمة المفتوحة </a:t>
            </a:r>
            <a:r>
              <a:rPr lang="en-US" b="1" dirty="0" smtClean="0"/>
              <a:t>OSI</a:t>
            </a:r>
            <a:endParaRPr lang="en-US" dirty="0" smtClean="0"/>
          </a:p>
          <a:p>
            <a:r>
              <a:rPr lang="ar-SA" b="1" dirty="0" smtClean="0"/>
              <a:t>النموذج المرجعي </a:t>
            </a:r>
            <a:r>
              <a:rPr lang="en-US" b="1" dirty="0" smtClean="0"/>
              <a:t>TCP/IP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3982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3.6 – Data</a:t>
            </a:r>
            <a:r>
              <a:rPr lang="en-US" sz="1200" b="0" baseline="0" dirty="0"/>
              <a:t> Encapsulation</a:t>
            </a:r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2387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b="1" dirty="0" smtClean="0"/>
              <a:t>التقسيم </a:t>
            </a:r>
            <a:r>
              <a:rPr lang="en-US" b="1" dirty="0" smtClean="0"/>
              <a:t>  Segmenting</a:t>
            </a:r>
            <a:r>
              <a:rPr lang="en-US" dirty="0" smtClean="0"/>
              <a:t> </a:t>
            </a:r>
            <a:r>
              <a:rPr lang="ar-SA" dirty="0" smtClean="0"/>
              <a:t>هو عملية تقسيم الرسائل إلى وحدات أصغر.</a:t>
            </a:r>
            <a:br>
              <a:rPr lang="ar-SA" dirty="0" smtClean="0"/>
            </a:br>
            <a:r>
              <a:rPr lang="ar-SA" b="1" dirty="0" smtClean="0"/>
              <a:t>التعدد </a:t>
            </a:r>
            <a:r>
              <a:rPr lang="en-US" b="1" dirty="0" smtClean="0"/>
              <a:t>Multiplexing</a:t>
            </a:r>
            <a:r>
              <a:rPr lang="en-US" b="1" baseline="0" dirty="0" smtClean="0"/>
              <a:t> </a:t>
            </a:r>
            <a:r>
              <a:rPr lang="en-US" dirty="0" smtClean="0"/>
              <a:t> </a:t>
            </a:r>
            <a:r>
              <a:rPr lang="ar-SA" dirty="0" smtClean="0"/>
              <a:t>  هو عملية أخذ عدة تدفقات من البيانات المقسمة ودمجها معًا بطريقة متداخلة.</a:t>
            </a:r>
          </a:p>
          <a:p>
            <a:endParaRPr lang="ar-SA" dirty="0" smtClean="0"/>
          </a:p>
          <a:p>
            <a:r>
              <a:rPr lang="ar-SA" dirty="0" smtClean="0"/>
              <a:t>لتقسيم الرسائل فائدتان رئيسيتان:</a:t>
            </a:r>
          </a:p>
          <a:p>
            <a:endParaRPr lang="ar-SA" dirty="0" smtClean="0"/>
          </a:p>
          <a:p>
            <a:r>
              <a:rPr lang="ar-SA" b="1" dirty="0" smtClean="0"/>
              <a:t>زيادة السرعة</a:t>
            </a:r>
            <a:r>
              <a:rPr lang="ar-SA" dirty="0" smtClean="0"/>
              <a:t> – يمكن إرسال كميات كبيرة من البيانات عبر الشبكة دون إشغال رابط الاتصال بالكامل.</a:t>
            </a:r>
          </a:p>
          <a:p>
            <a:r>
              <a:rPr lang="ar-SA" b="1" dirty="0" smtClean="0"/>
              <a:t>زيادة الكفاءة</a:t>
            </a:r>
            <a:r>
              <a:rPr lang="ar-SA" dirty="0" smtClean="0"/>
              <a:t> – فقط الأجزاء التي تفشل في الوصول إلى الوجهة تحتاج لإعادة الإرسال، وليس كامل تدفق البيانات.</a:t>
            </a:r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5596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ar-SA" b="1" dirty="0" smtClean="0"/>
              <a:t>ترتيب الرسائل</a:t>
            </a:r>
            <a:r>
              <a:rPr lang="ar-SA" dirty="0" smtClean="0"/>
              <a:t> هو عملية ترقيم الأجزاء </a:t>
            </a:r>
            <a:r>
              <a:rPr lang="en-US" dirty="0" smtClean="0"/>
              <a:t> Segments </a:t>
            </a:r>
            <a:r>
              <a:rPr lang="ar-SA" dirty="0" smtClean="0"/>
              <a:t>بحيث يمكن إعادة تجميع الرسالة عند الوصول إلى الوجهة.</a:t>
            </a:r>
            <a:br>
              <a:rPr lang="ar-SA" dirty="0" smtClean="0"/>
            </a:br>
            <a:r>
              <a:rPr lang="ar-SA" dirty="0" smtClean="0"/>
              <a:t>و</a:t>
            </a:r>
            <a:r>
              <a:rPr lang="ar-SA" b="1" dirty="0" smtClean="0"/>
              <a:t>بروتوكول </a:t>
            </a:r>
            <a:r>
              <a:rPr lang="en-US" b="1" dirty="0" smtClean="0"/>
              <a:t>TCP</a:t>
            </a:r>
            <a:r>
              <a:rPr lang="en-US" dirty="0" smtClean="0"/>
              <a:t> </a:t>
            </a:r>
            <a:r>
              <a:rPr lang="ar-SA" dirty="0" smtClean="0"/>
              <a:t> هو المسؤول عن ترتيب هذه الأجزاء الفردية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2149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dirty="0" smtClean="0"/>
              <a:t>التغليف </a:t>
            </a:r>
            <a:r>
              <a:rPr lang="ar-SA" baseline="0" dirty="0" smtClean="0"/>
              <a:t> </a:t>
            </a:r>
            <a:r>
              <a:rPr lang="en-US" dirty="0" smtClean="0"/>
              <a:t>Encapsulation </a:t>
            </a:r>
            <a:r>
              <a:rPr lang="ar-SA" dirty="0" smtClean="0"/>
              <a:t>   هو العملية التي تضيف فيها البروتوكولات معلوماتها إلى البيانات.</a:t>
            </a:r>
          </a:p>
          <a:p>
            <a:pPr algn="r" rtl="1"/>
            <a:r>
              <a:rPr lang="ar-SA" dirty="0" smtClean="0"/>
              <a:t/>
            </a:r>
            <a:br>
              <a:rPr lang="ar-SA" dirty="0" smtClean="0"/>
            </a:br>
            <a:r>
              <a:rPr lang="ar-SA" dirty="0" smtClean="0"/>
              <a:t>في كل مرحلة من مراحل هذه العملية، يكون للوحدة البينية للبيانات </a:t>
            </a:r>
            <a:r>
              <a:rPr lang="en-US" dirty="0" smtClean="0"/>
              <a:t>PDU</a:t>
            </a:r>
            <a:r>
              <a:rPr lang="ar-SA" dirty="0" smtClean="0"/>
              <a:t>  اسم مختلف يعكس وظيفتها الجديدة.</a:t>
            </a:r>
          </a:p>
          <a:p>
            <a:pPr algn="r" rtl="1"/>
            <a:endParaRPr lang="en-US" dirty="0" smtClean="0"/>
          </a:p>
          <a:p>
            <a:pPr algn="r" rtl="1"/>
            <a:r>
              <a:rPr lang="ar-SA" dirty="0" smtClean="0"/>
              <a:t>وحدات البيانات أثناء انتقالها لأسفل طبقات الشبكة تكون كالتالي:</a:t>
            </a:r>
          </a:p>
          <a:p>
            <a:pPr algn="r" rtl="1"/>
            <a:r>
              <a:rPr lang="ar-SA" b="1" dirty="0" smtClean="0"/>
              <a:t>البيانات </a:t>
            </a:r>
            <a:r>
              <a:rPr lang="en-US" b="1" dirty="0" smtClean="0"/>
              <a:t>  Data Stream</a:t>
            </a:r>
            <a:r>
              <a:rPr lang="en-US" dirty="0" smtClean="0"/>
              <a:t> → </a:t>
            </a:r>
            <a:r>
              <a:rPr lang="ar-SA" dirty="0" smtClean="0"/>
              <a:t>البيانات الخام أو تيار البيانات.</a:t>
            </a:r>
          </a:p>
          <a:p>
            <a:pPr algn="r" rtl="1"/>
            <a:r>
              <a:rPr lang="ar-SA" b="1" dirty="0" smtClean="0"/>
              <a:t>المقطع </a:t>
            </a:r>
            <a:r>
              <a:rPr lang="en-US" b="1" dirty="0" smtClean="0"/>
              <a:t>Segment</a:t>
            </a:r>
            <a:r>
              <a:rPr lang="en-US" dirty="0" smtClean="0"/>
              <a:t> → </a:t>
            </a:r>
            <a:r>
              <a:rPr lang="ar-SA" dirty="0" smtClean="0"/>
              <a:t> عندما تضيف طبقة النقل معلوماتها.</a:t>
            </a:r>
          </a:p>
          <a:p>
            <a:pPr algn="r" rtl="1"/>
            <a:r>
              <a:rPr lang="ar-SA" b="1" dirty="0" smtClean="0"/>
              <a:t>الحزمة </a:t>
            </a:r>
            <a:r>
              <a:rPr lang="en-US" b="1" dirty="0" smtClean="0"/>
              <a:t>Packet</a:t>
            </a:r>
            <a:r>
              <a:rPr lang="en-US" dirty="0" smtClean="0"/>
              <a:t> → </a:t>
            </a:r>
            <a:r>
              <a:rPr lang="ar-SA" dirty="0" smtClean="0"/>
              <a:t> بعد إضافة طبقة الشبكة لمعلوماتها.</a:t>
            </a:r>
          </a:p>
          <a:p>
            <a:pPr algn="r" rtl="1"/>
            <a:r>
              <a:rPr lang="ar-SA" b="1" dirty="0" smtClean="0"/>
              <a:t>الإطار </a:t>
            </a:r>
            <a:r>
              <a:rPr lang="en-US" b="1" dirty="0" smtClean="0"/>
              <a:t>Frame</a:t>
            </a:r>
            <a:r>
              <a:rPr lang="en-US" b="1" baseline="0" dirty="0" smtClean="0"/>
              <a:t> </a:t>
            </a:r>
            <a:r>
              <a:rPr lang="en-US" dirty="0" smtClean="0"/>
              <a:t> → </a:t>
            </a:r>
            <a:r>
              <a:rPr lang="ar-SA" dirty="0" smtClean="0"/>
              <a:t>  بعد إضافة طبقة الرابط لمعلوماتها.</a:t>
            </a:r>
          </a:p>
          <a:p>
            <a:pPr algn="r" rtl="1"/>
            <a:r>
              <a:rPr lang="ar-SA" b="1" dirty="0" smtClean="0"/>
              <a:t>البتات </a:t>
            </a:r>
            <a:r>
              <a:rPr lang="en-US" b="1" dirty="0" smtClean="0"/>
              <a:t>Bit Stream</a:t>
            </a:r>
            <a:r>
              <a:rPr lang="en-US" dirty="0" smtClean="0"/>
              <a:t> → </a:t>
            </a:r>
            <a:r>
              <a:rPr lang="ar-SA" dirty="0" smtClean="0"/>
              <a:t>  بعد تحويل كل شيء إلى بتات لإرساله عبر الوسيط الفيزيائي.</a:t>
            </a:r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3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 smtClean="0"/>
              <a:t>يتم </a:t>
            </a:r>
            <a:r>
              <a:rPr lang="ar-SA" b="1" dirty="0" smtClean="0"/>
              <a:t>إزالة التغليف عن البيانات أثناء صعودها في طبقات الشبكة</a:t>
            </a:r>
            <a:r>
              <a:rPr lang="ar-SA" dirty="0" smtClean="0"/>
              <a:t>.</a:t>
            </a:r>
          </a:p>
          <a:p>
            <a:r>
              <a:rPr lang="ar-SA" dirty="0" smtClean="0"/>
              <a:t/>
            </a:r>
            <a:br>
              <a:rPr lang="ar-SA" dirty="0" smtClean="0"/>
            </a:br>
            <a:r>
              <a:rPr lang="ar-SA" dirty="0" smtClean="0"/>
              <a:t>عندما تُكمل طبقة معينة معالجتها للبيانات، تقوم </a:t>
            </a:r>
            <a:r>
              <a:rPr lang="ar-SA" b="1" dirty="0" smtClean="0"/>
              <a:t>بإزالة الرأس </a:t>
            </a:r>
            <a:r>
              <a:rPr lang="en-US" b="1" dirty="0" smtClean="0"/>
              <a:t>Header </a:t>
            </a:r>
            <a:r>
              <a:rPr lang="ar-SA" b="1" dirty="0" smtClean="0"/>
              <a:t> الخاص بها</a:t>
            </a:r>
            <a:r>
              <a:rPr lang="ar-SA" dirty="0" smtClean="0"/>
              <a:t> ثم تمرر البيانات إلى الطبقة الأعلى لمعالجتها. يتكرر هذا الأمر في كل طبقة حتى تصبح البيانات </a:t>
            </a:r>
            <a:r>
              <a:rPr lang="ar-SA" b="1" dirty="0" smtClean="0"/>
              <a:t>تيارًا يمكن للتطبيق التعامل معه</a:t>
            </a:r>
            <a:r>
              <a:rPr lang="ar-SA" dirty="0" smtClean="0"/>
              <a:t>.</a:t>
            </a:r>
          </a:p>
          <a:p>
            <a:r>
              <a:rPr lang="ar-SA" dirty="0" smtClean="0"/>
              <a:t>العملية تكون بالشكل التالي عند استلام البيانات:</a:t>
            </a:r>
          </a:p>
          <a:p>
            <a:pPr algn="r"/>
            <a:r>
              <a:rPr lang="en-US" b="1" dirty="0" smtClean="0"/>
              <a:t>  Bits</a:t>
            </a:r>
            <a:r>
              <a:rPr lang="ar-SA" b="1" dirty="0" smtClean="0"/>
              <a:t>تيار بتات</a:t>
            </a:r>
            <a:r>
              <a:rPr lang="ar-SA" b="1" baseline="0" dirty="0" smtClean="0"/>
              <a:t> </a:t>
            </a:r>
            <a:endParaRPr lang="ar-SA" dirty="0" smtClean="0"/>
          </a:p>
          <a:p>
            <a:pPr algn="r"/>
            <a:r>
              <a:rPr lang="en-US" b="1" dirty="0" smtClean="0"/>
              <a:t>Frame</a:t>
            </a:r>
            <a:r>
              <a:rPr lang="en-US" b="1" baseline="0" dirty="0" smtClean="0"/>
              <a:t> </a:t>
            </a:r>
            <a:r>
              <a:rPr lang="ar-SA" b="1" dirty="0" smtClean="0"/>
              <a:t>  إطار</a:t>
            </a:r>
            <a:r>
              <a:rPr lang="ar-SA" dirty="0" smtClean="0"/>
              <a:t> </a:t>
            </a:r>
          </a:p>
          <a:p>
            <a:pPr algn="r"/>
            <a:r>
              <a:rPr lang="en-US" b="1" dirty="0" smtClean="0"/>
              <a:t>Packet </a:t>
            </a:r>
            <a:r>
              <a:rPr lang="ar-SA" b="1" dirty="0" smtClean="0"/>
              <a:t> رزمة بيانات</a:t>
            </a:r>
            <a:r>
              <a:rPr lang="ar-SA" dirty="0" smtClean="0"/>
              <a:t> </a:t>
            </a:r>
          </a:p>
          <a:p>
            <a:pPr algn="r"/>
            <a:r>
              <a:rPr lang="en-US" b="1" dirty="0" smtClean="0"/>
              <a:t> Segment </a:t>
            </a:r>
            <a:r>
              <a:rPr lang="ar-SA" b="1" dirty="0" smtClean="0"/>
              <a:t>مقطع بيانات</a:t>
            </a:r>
            <a:endParaRPr lang="ar-SA" dirty="0" smtClean="0"/>
          </a:p>
          <a:p>
            <a:pPr algn="r"/>
            <a:r>
              <a:rPr lang="en-US" b="1" dirty="0" smtClean="0"/>
              <a:t> Data </a:t>
            </a:r>
            <a:r>
              <a:rPr lang="ar-SA" b="1" dirty="0" smtClean="0"/>
              <a:t>تيار بيانات يمكن للتطبيق معالجته</a:t>
            </a:r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8825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Protocols and Models</a:t>
            </a:r>
          </a:p>
          <a:p>
            <a:pPr>
              <a:buFontTx/>
              <a:buNone/>
            </a:pPr>
            <a:r>
              <a:rPr lang="en-US" sz="1200" b="0" dirty="0"/>
              <a:t>3.7 – Data</a:t>
            </a:r>
            <a:r>
              <a:rPr lang="en-US" sz="1200" b="0" baseline="0" dirty="0"/>
              <a:t> Access</a:t>
            </a:r>
            <a:endParaRPr lang="en-GB" b="0" dirty="0"/>
          </a:p>
          <a:p>
            <a:pPr>
              <a:buFontTx/>
              <a:buNone/>
            </a:pP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4924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 smtClean="0"/>
              <a:t>كلا من طبقة ربط البيانات وطبقة الشبكة يستخدمان العناوين لتوصيل البيانات من المصدر إلى الوجهة:</a:t>
            </a:r>
          </a:p>
          <a:p>
            <a:endParaRPr lang="ar-SA" dirty="0" smtClean="0"/>
          </a:p>
          <a:p>
            <a:r>
              <a:rPr lang="ar-SA" b="1" dirty="0" smtClean="0"/>
              <a:t>عناوين المصدر والوجهة في طبقة الشبكة:</a:t>
            </a:r>
            <a:r>
              <a:rPr lang="ar-SA" dirty="0" smtClean="0"/>
              <a:t> مسؤولة عن توصيل حزمة الـ </a:t>
            </a:r>
            <a:r>
              <a:rPr lang="en-US" dirty="0" smtClean="0"/>
              <a:t>IP </a:t>
            </a:r>
            <a:r>
              <a:rPr lang="ar-SA" dirty="0" smtClean="0"/>
              <a:t>من المصدر الأصلي إلى الوجهة النهائية.</a:t>
            </a:r>
          </a:p>
          <a:p>
            <a:r>
              <a:rPr lang="ar-SA" b="1" dirty="0" smtClean="0"/>
              <a:t>عناوين المصدر والوجهة في طبقة ربط البيانات:</a:t>
            </a:r>
            <a:r>
              <a:rPr lang="ar-SA" dirty="0" smtClean="0"/>
              <a:t> مسؤولة عن توصيل إطار بيانات ربط البيانات من بطاقة شبكة </a:t>
            </a:r>
            <a:r>
              <a:rPr lang="en-US" dirty="0" smtClean="0"/>
              <a:t>NIC </a:t>
            </a:r>
            <a:r>
              <a:rPr lang="ar-SA" dirty="0" smtClean="0"/>
              <a:t> إلى </a:t>
            </a:r>
            <a:r>
              <a:rPr lang="ar-SA" dirty="0" smtClean="0"/>
              <a:t>بطاقة شبكة أخرى ضمن نفس الشبكة.</a:t>
            </a:r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4857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 smtClean="0"/>
              <a:t>حزمة الـ </a:t>
            </a:r>
            <a:r>
              <a:rPr lang="en-US" dirty="0" smtClean="0"/>
              <a:t>IP </a:t>
            </a:r>
            <a:r>
              <a:rPr lang="ar-SA" dirty="0" smtClean="0"/>
              <a:t>تحتوي على عنواني </a:t>
            </a:r>
            <a:r>
              <a:rPr lang="en-US" dirty="0" smtClean="0"/>
              <a:t>IP:</a:t>
            </a:r>
            <a:r>
              <a:rPr lang="ar-SA" dirty="0" smtClean="0"/>
              <a:t> </a:t>
            </a:r>
          </a:p>
          <a:p>
            <a:endParaRPr lang="en-US" dirty="0" smtClean="0"/>
          </a:p>
          <a:p>
            <a:r>
              <a:rPr lang="ar-SA" b="1" dirty="0" smtClean="0"/>
              <a:t>عنوان </a:t>
            </a:r>
            <a:r>
              <a:rPr lang="en-US" b="1" dirty="0" smtClean="0"/>
              <a:t>IP </a:t>
            </a:r>
            <a:r>
              <a:rPr lang="ar-SA" b="1" dirty="0" smtClean="0"/>
              <a:t>المرسل (</a:t>
            </a:r>
            <a:r>
              <a:rPr lang="en-US" b="1" dirty="0" smtClean="0"/>
              <a:t>Source IP address)</a:t>
            </a:r>
            <a:r>
              <a:rPr lang="en-US" dirty="0" smtClean="0"/>
              <a:t>: </a:t>
            </a:r>
            <a:r>
              <a:rPr lang="ar-SA" dirty="0" smtClean="0"/>
              <a:t>هو عنوان الجهاز الذي أرسل الحزمة، أي المصدر الأصلي لها.</a:t>
            </a:r>
          </a:p>
          <a:p>
            <a:r>
              <a:rPr lang="ar-SA" b="1" dirty="0" smtClean="0"/>
              <a:t>عنوان </a:t>
            </a:r>
            <a:r>
              <a:rPr lang="en-US" b="1" dirty="0" smtClean="0"/>
              <a:t>IP </a:t>
            </a:r>
            <a:r>
              <a:rPr lang="ar-SA" b="1" dirty="0" smtClean="0"/>
              <a:t>المستقبل (</a:t>
            </a:r>
            <a:r>
              <a:rPr lang="en-US" b="1" dirty="0" smtClean="0"/>
              <a:t>Destination IP address)</a:t>
            </a:r>
            <a:r>
              <a:rPr lang="en-US" dirty="0" smtClean="0"/>
              <a:t>: </a:t>
            </a:r>
            <a:r>
              <a:rPr lang="ar-SA" dirty="0" smtClean="0"/>
              <a:t>هو عنوان الجهاز الذي يستقبل الحزمة، أي الوجهة النهائية لها.</a:t>
            </a:r>
          </a:p>
          <a:p>
            <a:endParaRPr lang="ar-SA" dirty="0" smtClean="0"/>
          </a:p>
          <a:p>
            <a:r>
              <a:rPr lang="ar-SA" dirty="0" smtClean="0"/>
              <a:t>قد تكون هذه العناوين على نفس الشبكة المحلية أو على شبكات بعيدة.</a:t>
            </a:r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9030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 smtClean="0"/>
              <a:t>عنوان الـ </a:t>
            </a:r>
            <a:r>
              <a:rPr lang="en-US" dirty="0" smtClean="0"/>
              <a:t>IP </a:t>
            </a:r>
            <a:r>
              <a:rPr lang="ar-SA" dirty="0" smtClean="0"/>
              <a:t>يحتوي على </a:t>
            </a:r>
            <a:r>
              <a:rPr lang="ar-SA" dirty="0" err="1" smtClean="0"/>
              <a:t>جزئين</a:t>
            </a:r>
            <a:r>
              <a:rPr lang="ar-SA" dirty="0" smtClean="0"/>
              <a:t>:</a:t>
            </a:r>
          </a:p>
          <a:p>
            <a:pPr algn="r"/>
            <a:endParaRPr lang="ar-SA" dirty="0" smtClean="0"/>
          </a:p>
          <a:p>
            <a:pPr algn="r"/>
            <a:r>
              <a:rPr lang="ar-SA" b="1" dirty="0" smtClean="0"/>
              <a:t>جزء الشبكة </a:t>
            </a:r>
            <a:r>
              <a:rPr lang="en-US" b="1" dirty="0" smtClean="0"/>
              <a:t>Network portion </a:t>
            </a:r>
            <a:r>
              <a:rPr lang="ar-SA" b="1" dirty="0" smtClean="0"/>
              <a:t> في </a:t>
            </a:r>
            <a:r>
              <a:rPr lang="en-US" b="1" dirty="0" smtClean="0"/>
              <a:t> IPv4 </a:t>
            </a:r>
            <a:r>
              <a:rPr lang="ar-SA" b="1" dirty="0" smtClean="0"/>
              <a:t>أو </a:t>
            </a:r>
            <a:r>
              <a:rPr lang="en-US" b="1" dirty="0" smtClean="0"/>
              <a:t> Prefix </a:t>
            </a:r>
            <a:r>
              <a:rPr lang="ar-SA" b="1" dirty="0" smtClean="0"/>
              <a:t>في </a:t>
            </a:r>
            <a:r>
              <a:rPr lang="en-US" b="1" dirty="0" smtClean="0"/>
              <a:t>IPv6</a:t>
            </a:r>
            <a:r>
              <a:rPr lang="en-US" b="1" baseline="0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ar-SA" dirty="0" smtClean="0"/>
              <a:t>الجزء الموجود في أقصى اليسار من العنوان يحدد مجموعة الشبكة التي ينتمي إليها عنوان الـ </a:t>
            </a:r>
            <a:r>
              <a:rPr lang="en-US" dirty="0" smtClean="0"/>
              <a:t>IP.</a:t>
            </a:r>
            <a:br>
              <a:rPr lang="en-US" dirty="0" smtClean="0"/>
            </a:br>
            <a:r>
              <a:rPr lang="ar-SA" dirty="0" smtClean="0"/>
              <a:t>كل شبكة محلية </a:t>
            </a:r>
            <a:r>
              <a:rPr lang="en-US" dirty="0" smtClean="0"/>
              <a:t>LAN </a:t>
            </a:r>
            <a:r>
              <a:rPr lang="ar-SA" dirty="0" smtClean="0"/>
              <a:t> أو شبكة واسعة </a:t>
            </a:r>
            <a:r>
              <a:rPr lang="ar-SA" baseline="0" dirty="0" smtClean="0"/>
              <a:t> </a:t>
            </a:r>
            <a:r>
              <a:rPr lang="en-US" dirty="0" smtClean="0"/>
              <a:t>WAN</a:t>
            </a:r>
            <a:r>
              <a:rPr lang="ar-SA" dirty="0" smtClean="0"/>
              <a:t> سيكون لها نفس جزء الشبكة.</a:t>
            </a:r>
          </a:p>
          <a:p>
            <a:endParaRPr lang="ar-SA" dirty="0" smtClean="0"/>
          </a:p>
          <a:p>
            <a:r>
              <a:rPr lang="ar-SA" b="1" dirty="0" smtClean="0"/>
              <a:t>جزء الجهاز </a:t>
            </a:r>
            <a:r>
              <a:rPr lang="en-US" b="1" dirty="0" smtClean="0"/>
              <a:t>  Host portion </a:t>
            </a:r>
            <a:r>
              <a:rPr lang="ar-SA" b="1" dirty="0" smtClean="0"/>
              <a:t>في </a:t>
            </a:r>
            <a:r>
              <a:rPr lang="en-US" b="1" dirty="0" smtClean="0"/>
              <a:t>  IPv4 </a:t>
            </a:r>
            <a:r>
              <a:rPr lang="ar-SA" b="1" dirty="0" smtClean="0"/>
              <a:t>أو </a:t>
            </a:r>
            <a:r>
              <a:rPr lang="en-US" b="1" dirty="0" smtClean="0"/>
              <a:t>  Interface ID </a:t>
            </a:r>
            <a:r>
              <a:rPr lang="ar-SA" b="1" dirty="0" smtClean="0"/>
              <a:t>في </a:t>
            </a:r>
            <a:r>
              <a:rPr lang="en-US" b="1" dirty="0" smtClean="0"/>
              <a:t>IPv6</a:t>
            </a:r>
            <a:r>
              <a:rPr lang="en-US" b="1" baseline="0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ar-SA" dirty="0" smtClean="0"/>
              <a:t>الجزء المتبقي من العنوان يحدد جهازًا محددًا داخل الشبكة.</a:t>
            </a:r>
            <a:br>
              <a:rPr lang="ar-SA" dirty="0" smtClean="0"/>
            </a:br>
            <a:r>
              <a:rPr lang="ar-SA" dirty="0" smtClean="0"/>
              <a:t>هذا الجزء يكون فريدًا لكل جهاز على الشبكة.</a:t>
            </a:r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4831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 smtClean="0"/>
              <a:t>عندما تكون الأجهزة على نفس الشبكة، سيكون الجزء الخاص بالشبكة في عنوان الـ </a:t>
            </a:r>
            <a:r>
              <a:rPr lang="en-US" dirty="0" smtClean="0"/>
              <a:t>IP </a:t>
            </a:r>
            <a:r>
              <a:rPr lang="ar-SA" dirty="0" smtClean="0"/>
              <a:t>متساويًا لكل من المصدر والوجهة.</a:t>
            </a:r>
          </a:p>
          <a:p>
            <a:r>
              <a:rPr lang="ar-SA" dirty="0" smtClean="0"/>
              <a:t>مثال:</a:t>
            </a:r>
          </a:p>
          <a:p>
            <a:r>
              <a:rPr lang="ar-SA" dirty="0" smtClean="0"/>
              <a:t>جهاز الحاسوب </a:t>
            </a:r>
            <a:r>
              <a:rPr lang="en-US" dirty="0" smtClean="0"/>
              <a:t>PC1: 192.168.1.110</a:t>
            </a:r>
          </a:p>
          <a:p>
            <a:r>
              <a:rPr lang="ar-SA" dirty="0" smtClean="0"/>
              <a:t>خادم </a:t>
            </a:r>
            <a:r>
              <a:rPr lang="en-US" dirty="0" smtClean="0"/>
              <a:t>FTP: 192.168.1.9</a:t>
            </a:r>
            <a:endParaRPr lang="ar-SA" dirty="0" smtClean="0"/>
          </a:p>
          <a:p>
            <a:endParaRPr lang="en-US" dirty="0" smtClean="0"/>
          </a:p>
          <a:p>
            <a:r>
              <a:rPr lang="ar-SA" dirty="0" smtClean="0"/>
              <a:t>الجزء الأول من العنوان (192.168.1) يمثل الشبكة، وهو نفسه لكلا الجهازين، ما يعني أنهما على نفس الشبكة المحلية.</a:t>
            </a:r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8837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ar-SA" dirty="0" smtClean="0"/>
              <a:t>عندما يكون الوجهة النهائية بعيدة، يقوم المستوى الثالث </a:t>
            </a:r>
            <a:r>
              <a:rPr lang="en-US" dirty="0" smtClean="0"/>
              <a:t>Layer 3 </a:t>
            </a:r>
            <a:r>
              <a:rPr lang="ar-SA" dirty="0" smtClean="0"/>
              <a:t> بتزويد المستوى الثاني </a:t>
            </a:r>
            <a:r>
              <a:rPr lang="en-US" dirty="0" smtClean="0"/>
              <a:t>Layer 2</a:t>
            </a:r>
            <a:r>
              <a:rPr lang="ar-SA" dirty="0" smtClean="0"/>
              <a:t>  بعنوان الـ </a:t>
            </a:r>
            <a:r>
              <a:rPr lang="en-US" dirty="0" smtClean="0"/>
              <a:t> IP </a:t>
            </a:r>
            <a:r>
              <a:rPr lang="ar-SA" dirty="0" smtClean="0"/>
              <a:t>الخاص بالبوابة الافتراضية المحلية، والذي يُعرف أيضًا بعنوان الراوتر.</a:t>
            </a:r>
          </a:p>
          <a:p>
            <a:pPr>
              <a:buFontTx/>
              <a:buNone/>
            </a:pPr>
            <a:r>
              <a:rPr lang="ar-SA" dirty="0" smtClean="0"/>
              <a:t/>
            </a:r>
            <a:br>
              <a:rPr lang="ar-SA" dirty="0" smtClean="0"/>
            </a:br>
            <a:r>
              <a:rPr lang="ar-SA" dirty="0" smtClean="0"/>
              <a:t>البوابة الافتراضية</a:t>
            </a:r>
            <a:r>
              <a:rPr lang="en-US" dirty="0" smtClean="0"/>
              <a:t>DGW</a:t>
            </a:r>
            <a:r>
              <a:rPr lang="en-US" baseline="0" dirty="0" smtClean="0"/>
              <a:t> </a:t>
            </a:r>
            <a:r>
              <a:rPr lang="en-US" dirty="0" smtClean="0"/>
              <a:t> </a:t>
            </a:r>
            <a:r>
              <a:rPr lang="ar-SA" dirty="0" smtClean="0"/>
              <a:t>  هي عنوان واجهة الراوتر الذي ينتمي إلى نفس شبكة الـ </a:t>
            </a:r>
            <a:r>
              <a:rPr lang="en-US" dirty="0" smtClean="0"/>
              <a:t>LAN، </a:t>
            </a:r>
            <a:r>
              <a:rPr lang="ar-SA" dirty="0" smtClean="0"/>
              <a:t>وتعمل كـ "باب" أو "بوابة" للوصول إلى جميع المواقع البعيدة الأخرى.</a:t>
            </a:r>
          </a:p>
          <a:p>
            <a:pPr>
              <a:buFontTx/>
              <a:buNone/>
            </a:pPr>
            <a:r>
              <a:rPr lang="ar-SA" dirty="0" smtClean="0"/>
              <a:t/>
            </a:r>
            <a:br>
              <a:rPr lang="ar-SA" dirty="0" smtClean="0"/>
            </a:br>
            <a:r>
              <a:rPr lang="ar-SA" dirty="0" smtClean="0"/>
              <a:t>يجب إعلام جميع الأجهزة على شبكة الـ </a:t>
            </a:r>
            <a:r>
              <a:rPr lang="en-US" dirty="0" smtClean="0"/>
              <a:t> LAN </a:t>
            </a:r>
            <a:r>
              <a:rPr lang="ar-SA" dirty="0" smtClean="0"/>
              <a:t>بهذا العنوان، وإلا فإن حركة البيانات الخاصة بها ستظل محصورة داخل الشبكة المحلية فقط.</a:t>
            </a:r>
          </a:p>
          <a:p>
            <a:pPr>
              <a:buFontTx/>
              <a:buNone/>
            </a:pPr>
            <a:r>
              <a:rPr lang="ar-SA" dirty="0" smtClean="0"/>
              <a:t/>
            </a:r>
            <a:br>
              <a:rPr lang="ar-SA" dirty="0" smtClean="0"/>
            </a:br>
            <a:r>
              <a:rPr lang="ar-SA" dirty="0" smtClean="0"/>
              <a:t>بمجرد أن يقوم المستوى الثاني في الكمبيوتر الأول </a:t>
            </a:r>
            <a:r>
              <a:rPr lang="ar-SA" baseline="0" dirty="0" smtClean="0"/>
              <a:t> </a:t>
            </a:r>
            <a:r>
              <a:rPr lang="en-US" baseline="0" dirty="0" smtClean="0"/>
              <a:t>  </a:t>
            </a:r>
            <a:r>
              <a:rPr lang="en-US" dirty="0" smtClean="0"/>
              <a:t>PC1</a:t>
            </a:r>
            <a:r>
              <a:rPr lang="ar-SA" dirty="0" smtClean="0"/>
              <a:t>بإرسال البيانات إلى البوابة الافتراضية (الراوتر)، يمكن للراوتر عندها بدء عملية التوجيه لنقل المعلومات إلى الوجهة الفعلية.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3718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 smtClean="0"/>
              <a:t>عنوان الربط البياني </a:t>
            </a:r>
            <a:r>
              <a:rPr lang="en-US" dirty="0" smtClean="0"/>
              <a:t>Data Link Addressing </a:t>
            </a:r>
            <a:r>
              <a:rPr lang="ar-SA" dirty="0" smtClean="0"/>
              <a:t>  هو عنوان محلي، أي أن كل رابط يحتوي على عنوان مصدر وعنوان وجهة.</a:t>
            </a:r>
          </a:p>
          <a:p>
            <a:r>
              <a:rPr lang="ar-SA" dirty="0" smtClean="0"/>
              <a:t/>
            </a:r>
            <a:br>
              <a:rPr lang="ar-SA" dirty="0" smtClean="0"/>
            </a:br>
            <a:r>
              <a:rPr lang="ar-SA" dirty="0" smtClean="0"/>
              <a:t>بالنسبة للعنوان الفيزيائي </a:t>
            </a:r>
            <a:r>
              <a:rPr lang="en-US" dirty="0" smtClean="0"/>
              <a:t>MAC </a:t>
            </a:r>
            <a:r>
              <a:rPr lang="ar-SA" dirty="0" smtClean="0"/>
              <a:t> للجزء الأول من الشبكة:</a:t>
            </a:r>
          </a:p>
          <a:p>
            <a:endParaRPr lang="ar-SA" dirty="0" smtClean="0"/>
          </a:p>
          <a:p>
            <a:r>
              <a:rPr lang="ar-SA" dirty="0" smtClean="0"/>
              <a:t>المصدر: </a:t>
            </a:r>
            <a:r>
              <a:rPr lang="en-US" dirty="0" smtClean="0"/>
              <a:t>  </a:t>
            </a:r>
            <a:r>
              <a:rPr lang="en-US" b="1" dirty="0" smtClean="0"/>
              <a:t>AA-AA-AA-AA-AA-AA</a:t>
            </a:r>
            <a:r>
              <a:rPr lang="en-US" dirty="0" smtClean="0"/>
              <a:t> </a:t>
            </a:r>
            <a:r>
              <a:rPr lang="ar-SA" dirty="0" smtClean="0"/>
              <a:t>الكمبيوتر </a:t>
            </a:r>
            <a:r>
              <a:rPr lang="en-US" dirty="0" smtClean="0"/>
              <a:t>PC1</a:t>
            </a:r>
            <a:r>
              <a:rPr lang="en-US" baseline="0" dirty="0" smtClean="0"/>
              <a:t> </a:t>
            </a:r>
            <a:r>
              <a:rPr lang="en-US" dirty="0" smtClean="0"/>
              <a:t> </a:t>
            </a:r>
            <a:r>
              <a:rPr lang="ar-SA" dirty="0" smtClean="0"/>
              <a:t>  يقوم بإرسال الإطار.</a:t>
            </a:r>
          </a:p>
          <a:p>
            <a:r>
              <a:rPr lang="ar-SA" dirty="0" smtClean="0"/>
              <a:t>الوجهة: </a:t>
            </a:r>
            <a:r>
              <a:rPr lang="ar-SA" b="1" dirty="0" smtClean="0"/>
              <a:t>11-11-11-11-11-11</a:t>
            </a:r>
            <a:r>
              <a:rPr lang="ar-SA" dirty="0" smtClean="0"/>
              <a:t> (الراوتر </a:t>
            </a:r>
            <a:r>
              <a:rPr lang="en-US" dirty="0" smtClean="0"/>
              <a:t>R1 – </a:t>
            </a:r>
            <a:r>
              <a:rPr lang="ar-SA" dirty="0" smtClean="0"/>
              <a:t>بوابة الشبكة الافتراضية) يستقبل الإطار.</a:t>
            </a:r>
          </a:p>
          <a:p>
            <a:endParaRPr lang="ar-SA" dirty="0" smtClean="0"/>
          </a:p>
          <a:p>
            <a:r>
              <a:rPr lang="ar-SA" dirty="0" smtClean="0"/>
              <a:t>ملاحظة: بينما تتغير عناوين الطبقة الثانية </a:t>
            </a:r>
            <a:r>
              <a:rPr lang="en-US" dirty="0" smtClean="0"/>
              <a:t>L2 </a:t>
            </a:r>
            <a:r>
              <a:rPr lang="ar-SA" dirty="0" smtClean="0"/>
              <a:t> من رابط إلى آخر أو من نقطة عبور إلى أخرى، تبقى عناوين الطبقة الثالثة </a:t>
            </a:r>
            <a:r>
              <a:rPr lang="en-US" dirty="0" smtClean="0"/>
              <a:t>L3 </a:t>
            </a:r>
            <a:r>
              <a:rPr lang="ar-SA" dirty="0" smtClean="0"/>
              <a:t> كما هي دون تغيير.</a:t>
            </a:r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807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CE6F2-B80F-436F-B826-5602F7404045}" type="datetimeFigureOut">
              <a:rPr lang="ar-SA" smtClean="0"/>
              <a:t>06/06/47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98EB-5F49-4B7D-996C-F3394498A3B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11843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CE6F2-B80F-436F-B826-5602F7404045}" type="datetimeFigureOut">
              <a:rPr lang="ar-SA" smtClean="0"/>
              <a:t>06/06/47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98EB-5F49-4B7D-996C-F3394498A3B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03805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CE6F2-B80F-436F-B826-5602F7404045}" type="datetimeFigureOut">
              <a:rPr lang="ar-SA" smtClean="0"/>
              <a:t>06/06/47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98EB-5F49-4B7D-996C-F3394498A3B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01278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CE6F2-B80F-436F-B826-5602F7404045}" type="datetimeFigureOut">
              <a:rPr lang="ar-SA" smtClean="0"/>
              <a:t>06/06/47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98EB-5F49-4B7D-996C-F3394498A3B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38723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CE6F2-B80F-436F-B826-5602F7404045}" type="datetimeFigureOut">
              <a:rPr lang="ar-SA" smtClean="0"/>
              <a:t>06/06/47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98EB-5F49-4B7D-996C-F3394498A3B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35296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CE6F2-B80F-436F-B826-5602F7404045}" type="datetimeFigureOut">
              <a:rPr lang="ar-SA" smtClean="0"/>
              <a:t>06/06/47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98EB-5F49-4B7D-996C-F3394498A3B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45233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CE6F2-B80F-436F-B826-5602F7404045}" type="datetimeFigureOut">
              <a:rPr lang="ar-SA" smtClean="0"/>
              <a:t>06/06/47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98EB-5F49-4B7D-996C-F3394498A3B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3789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CE6F2-B80F-436F-B826-5602F7404045}" type="datetimeFigureOut">
              <a:rPr lang="ar-SA" smtClean="0"/>
              <a:t>06/06/47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98EB-5F49-4B7D-996C-F3394498A3B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62041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CE6F2-B80F-436F-B826-5602F7404045}" type="datetimeFigureOut">
              <a:rPr lang="ar-SA" smtClean="0"/>
              <a:t>06/06/47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98EB-5F49-4B7D-996C-F3394498A3B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96441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CE6F2-B80F-436F-B826-5602F7404045}" type="datetimeFigureOut">
              <a:rPr lang="ar-SA" smtClean="0"/>
              <a:t>06/06/47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98EB-5F49-4B7D-996C-F3394498A3B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36684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CE6F2-B80F-436F-B826-5602F7404045}" type="datetimeFigureOut">
              <a:rPr lang="ar-SA" smtClean="0"/>
              <a:t>06/06/47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98EB-5F49-4B7D-996C-F3394498A3B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77585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297921" y="6605684"/>
            <a:ext cx="902547" cy="252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defTabSz="514338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514338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92087" y="1065260"/>
            <a:ext cx="11804381" cy="55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226478" indent="-22647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55191"/>
            <a:ext cx="12192000" cy="101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32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488186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11357833" y="6323876"/>
            <a:ext cx="287662" cy="206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15" tIns="41056" rIns="82115" bIns="41056" anchor="b">
            <a:spAutoFit/>
          </a:bodyPr>
          <a:lstStyle/>
          <a:p>
            <a:pPr algn="r" defTabSz="814305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8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814305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8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7823344" y="6322205"/>
            <a:ext cx="3544024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115" tIns="41056" rIns="82115" bIns="41056" anchor="b">
            <a:spAutoFit/>
          </a:bodyPr>
          <a:lstStyle/>
          <a:p>
            <a:pPr defTabSz="8143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677386" y="6286929"/>
            <a:ext cx="453676" cy="241299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57824489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CE6F2-B80F-436F-B826-5602F7404045}" type="datetimeFigureOut">
              <a:rPr lang="ar-SA" smtClean="0"/>
              <a:t>06/06/47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C98EB-5F49-4B7D-996C-F3394498A3B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61680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5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1868049" y="439979"/>
            <a:ext cx="9144000" cy="2387600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The Rules</a:t>
            </a:r>
            <a:endParaRPr lang="ar-SA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828156" y="3005548"/>
            <a:ext cx="9144000" cy="1655762"/>
          </a:xfrm>
        </p:spPr>
        <p:txBody>
          <a:bodyPr/>
          <a:lstStyle/>
          <a:p>
            <a:r>
              <a:rPr lang="en-US" dirty="0" smtClean="0"/>
              <a:t>Azal Hussein Al-</a:t>
            </a:r>
            <a:r>
              <a:rPr lang="en-US" dirty="0" err="1" smtClean="0"/>
              <a:t>Rashedi</a:t>
            </a:r>
            <a:endParaRPr lang="ar-SA" dirty="0"/>
          </a:p>
        </p:txBody>
      </p:sp>
      <p:grpSp>
        <p:nvGrpSpPr>
          <p:cNvPr id="4" name="Graphic 64">
            <a:extLst>
              <a:ext uri="{FF2B5EF4-FFF2-40B4-BE49-F238E27FC236}">
                <a16:creationId xmlns:a16="http://schemas.microsoft.com/office/drawing/2014/main" id="{E52FF5FF-CF8B-DB46-8651-396D385F62FB}"/>
              </a:ext>
            </a:extLst>
          </p:cNvPr>
          <p:cNvGrpSpPr/>
          <p:nvPr/>
        </p:nvGrpSpPr>
        <p:grpSpPr>
          <a:xfrm>
            <a:off x="511454" y="2051973"/>
            <a:ext cx="2565022" cy="3868750"/>
            <a:chOff x="674" y="1276499"/>
            <a:chExt cx="2565022" cy="3868750"/>
          </a:xfrm>
        </p:grpSpPr>
        <p:sp>
          <p:nvSpPr>
            <p:cNvPr id="5" name="Freeform: Shape 22">
              <a:extLst>
                <a:ext uri="{FF2B5EF4-FFF2-40B4-BE49-F238E27FC236}">
                  <a16:creationId xmlns:a16="http://schemas.microsoft.com/office/drawing/2014/main" id="{A107F5A8-AB7D-6847-9632-A30A4BAEF824}"/>
                </a:ext>
              </a:extLst>
            </p:cNvPr>
            <p:cNvSpPr/>
            <p:nvPr/>
          </p:nvSpPr>
          <p:spPr>
            <a:xfrm>
              <a:off x="674" y="3004273"/>
              <a:ext cx="2206689" cy="2140976"/>
            </a:xfrm>
            <a:custGeom>
              <a:avLst/>
              <a:gdLst>
                <a:gd name="connsiteX0" fmla="*/ 1146903 w 2206689"/>
                <a:gd name="connsiteY0" fmla="*/ 116953 h 2140976"/>
                <a:gd name="connsiteX1" fmla="*/ 852929 w 2206689"/>
                <a:gd name="connsiteY1" fmla="*/ 891679 h 2140976"/>
                <a:gd name="connsiteX2" fmla="*/ 1285125 w 2206689"/>
                <a:gd name="connsiteY2" fmla="*/ 1281747 h 2140976"/>
                <a:gd name="connsiteX3" fmla="*/ 1910157 w 2206689"/>
                <a:gd name="connsiteY3" fmla="*/ 1455486 h 2140976"/>
                <a:gd name="connsiteX4" fmla="*/ 1867004 w 2206689"/>
                <a:gd name="connsiteY4" fmla="*/ 1830004 h 2140976"/>
                <a:gd name="connsiteX5" fmla="*/ 2201434 w 2206689"/>
                <a:gd name="connsiteY5" fmla="*/ 2140977 h 2140976"/>
                <a:gd name="connsiteX6" fmla="*/ 0 w 2206689"/>
                <a:gd name="connsiteY6" fmla="*/ 2140977 h 2140976"/>
                <a:gd name="connsiteX7" fmla="*/ 0 w 2206689"/>
                <a:gd name="connsiteY7" fmla="*/ 560426 h 2140976"/>
                <a:gd name="connsiteX8" fmla="*/ 224526 w 2206689"/>
                <a:gd name="connsiteY8" fmla="*/ 883567 h 2140976"/>
                <a:gd name="connsiteX9" fmla="*/ 527265 w 2206689"/>
                <a:gd name="connsiteY9" fmla="*/ 784867 h 2140976"/>
                <a:gd name="connsiteX10" fmla="*/ 1024189 w 2206689"/>
                <a:gd name="connsiteY10" fmla="*/ 0 h 2140976"/>
                <a:gd name="connsiteX11" fmla="*/ 1146903 w 2206689"/>
                <a:gd name="connsiteY11" fmla="*/ 116953 h 2140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06689" h="2140976">
                  <a:moveTo>
                    <a:pt x="1146903" y="116953"/>
                  </a:moveTo>
                  <a:cubicBezTo>
                    <a:pt x="1146903" y="116953"/>
                    <a:pt x="880573" y="749714"/>
                    <a:pt x="852929" y="891679"/>
                  </a:cubicBezTo>
                  <a:cubicBezTo>
                    <a:pt x="990477" y="797036"/>
                    <a:pt x="1418627" y="820696"/>
                    <a:pt x="1285125" y="1281747"/>
                  </a:cubicBezTo>
                  <a:cubicBezTo>
                    <a:pt x="1595955" y="1175611"/>
                    <a:pt x="1854868" y="1246593"/>
                    <a:pt x="1910157" y="1455486"/>
                  </a:cubicBezTo>
                  <a:cubicBezTo>
                    <a:pt x="1965445" y="1664378"/>
                    <a:pt x="1867004" y="1830004"/>
                    <a:pt x="1867004" y="1830004"/>
                  </a:cubicBezTo>
                  <a:cubicBezTo>
                    <a:pt x="1867004" y="1830004"/>
                    <a:pt x="2256048" y="1777950"/>
                    <a:pt x="2201434" y="2140977"/>
                  </a:cubicBezTo>
                  <a:cubicBezTo>
                    <a:pt x="1741594" y="2140977"/>
                    <a:pt x="0" y="2140977"/>
                    <a:pt x="0" y="2140977"/>
                  </a:cubicBezTo>
                  <a:lnTo>
                    <a:pt x="0" y="560426"/>
                  </a:lnTo>
                  <a:cubicBezTo>
                    <a:pt x="0" y="560426"/>
                    <a:pt x="224526" y="592200"/>
                    <a:pt x="224526" y="883567"/>
                  </a:cubicBezTo>
                  <a:cubicBezTo>
                    <a:pt x="330384" y="713884"/>
                    <a:pt x="527265" y="784867"/>
                    <a:pt x="527265" y="784867"/>
                  </a:cubicBezTo>
                  <a:lnTo>
                    <a:pt x="1024189" y="0"/>
                  </a:lnTo>
                  <a:lnTo>
                    <a:pt x="1146903" y="116953"/>
                  </a:lnTo>
                  <a:close/>
                </a:path>
              </a:pathLst>
            </a:custGeom>
            <a:solidFill>
              <a:schemeClr val="bg1"/>
            </a:solidFill>
            <a:ln w="67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grpSp>
          <p:nvGrpSpPr>
            <p:cNvPr id="6" name="Graphic 64">
              <a:extLst>
                <a:ext uri="{FF2B5EF4-FFF2-40B4-BE49-F238E27FC236}">
                  <a16:creationId xmlns:a16="http://schemas.microsoft.com/office/drawing/2014/main" id="{45E452A4-D284-0447-B632-178F25912F5C}"/>
                </a:ext>
              </a:extLst>
            </p:cNvPr>
            <p:cNvGrpSpPr/>
            <p:nvPr/>
          </p:nvGrpSpPr>
          <p:grpSpPr>
            <a:xfrm>
              <a:off x="548037" y="1276499"/>
              <a:ext cx="1596499" cy="2125622"/>
              <a:chOff x="548037" y="1276499"/>
              <a:chExt cx="1596499" cy="2125622"/>
            </a:xfrm>
          </p:grpSpPr>
          <p:sp>
            <p:nvSpPr>
              <p:cNvPr id="12" name="Freeform: Shape 24">
                <a:extLst>
                  <a:ext uri="{FF2B5EF4-FFF2-40B4-BE49-F238E27FC236}">
                    <a16:creationId xmlns:a16="http://schemas.microsoft.com/office/drawing/2014/main" id="{65BBF948-F460-7C48-8C9F-E654766EED0B}"/>
                  </a:ext>
                </a:extLst>
              </p:cNvPr>
              <p:cNvSpPr/>
              <p:nvPr/>
            </p:nvSpPr>
            <p:spPr>
              <a:xfrm>
                <a:off x="548037" y="2130170"/>
                <a:ext cx="554364" cy="747870"/>
              </a:xfrm>
              <a:custGeom>
                <a:avLst/>
                <a:gdLst>
                  <a:gd name="connsiteX0" fmla="*/ 554365 w 554364"/>
                  <a:gd name="connsiteY0" fmla="*/ 0 h 747870"/>
                  <a:gd name="connsiteX1" fmla="*/ 121495 w 554364"/>
                  <a:gd name="connsiteY1" fmla="*/ 417108 h 747870"/>
                  <a:gd name="connsiteX2" fmla="*/ 803 w 554364"/>
                  <a:gd name="connsiteY2" fmla="*/ 715236 h 747870"/>
                  <a:gd name="connsiteX3" fmla="*/ 43956 w 554364"/>
                  <a:gd name="connsiteY3" fmla="*/ 741601 h 747870"/>
                  <a:gd name="connsiteX4" fmla="*/ 370294 w 554364"/>
                  <a:gd name="connsiteY4" fmla="*/ 555018 h 747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4364" h="747870">
                    <a:moveTo>
                      <a:pt x="554365" y="0"/>
                    </a:moveTo>
                    <a:cubicBezTo>
                      <a:pt x="379733" y="93292"/>
                      <a:pt x="228701" y="233905"/>
                      <a:pt x="121495" y="417108"/>
                    </a:cubicBezTo>
                    <a:cubicBezTo>
                      <a:pt x="65532" y="512428"/>
                      <a:pt x="25751" y="613156"/>
                      <a:pt x="803" y="715236"/>
                    </a:cubicBezTo>
                    <a:cubicBezTo>
                      <a:pt x="-5265" y="740249"/>
                      <a:pt x="24402" y="757826"/>
                      <a:pt x="43956" y="741601"/>
                    </a:cubicBezTo>
                    <a:cubicBezTo>
                      <a:pt x="139699" y="660478"/>
                      <a:pt x="248928" y="594228"/>
                      <a:pt x="370294" y="555018"/>
                    </a:cubicBezTo>
                  </a:path>
                </a:pathLst>
              </a:custGeom>
              <a:solidFill>
                <a:srgbClr val="531588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3" name="Freeform: Shape 25">
                <a:extLst>
                  <a:ext uri="{FF2B5EF4-FFF2-40B4-BE49-F238E27FC236}">
                    <a16:creationId xmlns:a16="http://schemas.microsoft.com/office/drawing/2014/main" id="{FCEA1EBA-4DA5-DD4B-B53E-14A7D04D0915}"/>
                  </a:ext>
                </a:extLst>
              </p:cNvPr>
              <p:cNvSpPr/>
              <p:nvPr/>
            </p:nvSpPr>
            <p:spPr>
              <a:xfrm>
                <a:off x="1440375" y="2592573"/>
                <a:ext cx="396287" cy="809548"/>
              </a:xfrm>
              <a:custGeom>
                <a:avLst/>
                <a:gdLst>
                  <a:gd name="connsiteX0" fmla="*/ 396288 w 396287"/>
                  <a:gd name="connsiteY0" fmla="*/ 0 h 809548"/>
                  <a:gd name="connsiteX1" fmla="*/ 244581 w 396287"/>
                  <a:gd name="connsiteY1" fmla="*/ 551638 h 809548"/>
                  <a:gd name="connsiteX2" fmla="*/ 44328 w 396287"/>
                  <a:gd name="connsiteY2" fmla="*/ 802444 h 809548"/>
                  <a:gd name="connsiteX3" fmla="*/ 502 w 396287"/>
                  <a:gd name="connsiteY3" fmla="*/ 777431 h 809548"/>
                  <a:gd name="connsiteX4" fmla="*/ 3199 w 396287"/>
                  <a:gd name="connsiteY4" fmla="*/ 400884 h 809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6287" h="809548">
                    <a:moveTo>
                      <a:pt x="396288" y="0"/>
                    </a:moveTo>
                    <a:cubicBezTo>
                      <a:pt x="394939" y="187935"/>
                      <a:pt x="345719" y="377899"/>
                      <a:pt x="244581" y="551638"/>
                    </a:cubicBezTo>
                    <a:cubicBezTo>
                      <a:pt x="188618" y="646958"/>
                      <a:pt x="121193" y="730785"/>
                      <a:pt x="44328" y="802444"/>
                    </a:cubicBezTo>
                    <a:cubicBezTo>
                      <a:pt x="25449" y="820020"/>
                      <a:pt x="-4218" y="802444"/>
                      <a:pt x="502" y="777431"/>
                    </a:cubicBezTo>
                    <a:cubicBezTo>
                      <a:pt x="24100" y="654394"/>
                      <a:pt x="28146" y="525949"/>
                      <a:pt x="3199" y="400884"/>
                    </a:cubicBezTo>
                  </a:path>
                </a:pathLst>
              </a:custGeom>
              <a:solidFill>
                <a:srgbClr val="531588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4" name="Freeform: Shape 26">
                <a:extLst>
                  <a:ext uri="{FF2B5EF4-FFF2-40B4-BE49-F238E27FC236}">
                    <a16:creationId xmlns:a16="http://schemas.microsoft.com/office/drawing/2014/main" id="{AC4106D2-8B71-1F4F-AF40-1A2E59874210}"/>
                  </a:ext>
                </a:extLst>
              </p:cNvPr>
              <p:cNvSpPr/>
              <p:nvPr/>
            </p:nvSpPr>
            <p:spPr>
              <a:xfrm>
                <a:off x="898589" y="1276499"/>
                <a:ext cx="1245947" cy="1861267"/>
              </a:xfrm>
              <a:custGeom>
                <a:avLst/>
                <a:gdLst>
                  <a:gd name="connsiteX0" fmla="*/ 1220586 w 1245947"/>
                  <a:gd name="connsiteY0" fmla="*/ 27567 h 1861267"/>
                  <a:gd name="connsiteX1" fmla="*/ 1176759 w 1245947"/>
                  <a:gd name="connsiteY1" fmla="*/ 1878 h 1861267"/>
                  <a:gd name="connsiteX2" fmla="*/ 244943 w 1245947"/>
                  <a:gd name="connsiteY2" fmla="*/ 779308 h 1861267"/>
                  <a:gd name="connsiteX3" fmla="*/ 189 w 1245947"/>
                  <a:gd name="connsiteY3" fmla="*/ 1597301 h 1861267"/>
                  <a:gd name="connsiteX4" fmla="*/ 69637 w 1245947"/>
                  <a:gd name="connsiteY4" fmla="*/ 1739942 h 1861267"/>
                  <a:gd name="connsiteX5" fmla="*/ 156616 w 1245947"/>
                  <a:gd name="connsiteY5" fmla="*/ 1796729 h 1861267"/>
                  <a:gd name="connsiteX6" fmla="*/ 248314 w 1245947"/>
                  <a:gd name="connsiteY6" fmla="*/ 1845403 h 1861267"/>
                  <a:gd name="connsiteX7" fmla="*/ 406763 w 1245947"/>
                  <a:gd name="connsiteY7" fmla="*/ 1836614 h 1861267"/>
                  <a:gd name="connsiteX8" fmla="*/ 998757 w 1245947"/>
                  <a:gd name="connsiteY8" fmla="*/ 1222782 h 1861267"/>
                  <a:gd name="connsiteX9" fmla="*/ 1220586 w 1245947"/>
                  <a:gd name="connsiteY9" fmla="*/ 27567 h 1861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45947" h="1861267">
                    <a:moveTo>
                      <a:pt x="1220586" y="27567"/>
                    </a:moveTo>
                    <a:cubicBezTo>
                      <a:pt x="1217214" y="7286"/>
                      <a:pt x="1196313" y="-4883"/>
                      <a:pt x="1176759" y="1878"/>
                    </a:cubicBezTo>
                    <a:cubicBezTo>
                      <a:pt x="803224" y="133027"/>
                      <a:pt x="466772" y="400057"/>
                      <a:pt x="244943" y="779308"/>
                    </a:cubicBezTo>
                    <a:cubicBezTo>
                      <a:pt x="93236" y="1038903"/>
                      <a:pt x="13674" y="1320130"/>
                      <a:pt x="189" y="1597301"/>
                    </a:cubicBezTo>
                    <a:cubicBezTo>
                      <a:pt x="-2508" y="1653411"/>
                      <a:pt x="23788" y="1706817"/>
                      <a:pt x="69637" y="1739942"/>
                    </a:cubicBezTo>
                    <a:cubicBezTo>
                      <a:pt x="97281" y="1760223"/>
                      <a:pt x="126274" y="1779152"/>
                      <a:pt x="156616" y="1796729"/>
                    </a:cubicBezTo>
                    <a:cubicBezTo>
                      <a:pt x="186957" y="1814305"/>
                      <a:pt x="217298" y="1830530"/>
                      <a:pt x="248314" y="1845403"/>
                    </a:cubicBezTo>
                    <a:cubicBezTo>
                      <a:pt x="299557" y="1869064"/>
                      <a:pt x="358891" y="1866360"/>
                      <a:pt x="406763" y="1836614"/>
                    </a:cubicBezTo>
                    <a:cubicBezTo>
                      <a:pt x="641403" y="1689916"/>
                      <a:pt x="847050" y="1483052"/>
                      <a:pt x="998757" y="1222782"/>
                    </a:cubicBezTo>
                    <a:cubicBezTo>
                      <a:pt x="1221260" y="842855"/>
                      <a:pt x="1288685" y="418310"/>
                      <a:pt x="1220586" y="27567"/>
                    </a:cubicBezTo>
                    <a:close/>
                  </a:path>
                </a:pathLst>
              </a:custGeom>
              <a:solidFill>
                <a:schemeClr val="bg1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5" name="Freeform: Shape 27">
                <a:extLst>
                  <a:ext uri="{FF2B5EF4-FFF2-40B4-BE49-F238E27FC236}">
                    <a16:creationId xmlns:a16="http://schemas.microsoft.com/office/drawing/2014/main" id="{08760248-D7DC-8B49-B585-DF240BF43437}"/>
                  </a:ext>
                </a:extLst>
              </p:cNvPr>
              <p:cNvSpPr/>
              <p:nvPr/>
            </p:nvSpPr>
            <p:spPr>
              <a:xfrm>
                <a:off x="1755078" y="1276499"/>
                <a:ext cx="389380" cy="381804"/>
              </a:xfrm>
              <a:custGeom>
                <a:avLst/>
                <a:gdLst>
                  <a:gd name="connsiteX0" fmla="*/ 0 w 389380"/>
                  <a:gd name="connsiteY0" fmla="*/ 153308 h 381804"/>
                  <a:gd name="connsiteX1" fmla="*/ 167215 w 389380"/>
                  <a:gd name="connsiteY1" fmla="*/ 313526 h 381804"/>
                  <a:gd name="connsiteX2" fmla="*/ 388369 w 389380"/>
                  <a:gd name="connsiteY2" fmla="*/ 381805 h 381804"/>
                  <a:gd name="connsiteX3" fmla="*/ 364096 w 389380"/>
                  <a:gd name="connsiteY3" fmla="*/ 27567 h 381804"/>
                  <a:gd name="connsiteX4" fmla="*/ 320270 w 389380"/>
                  <a:gd name="connsiteY4" fmla="*/ 1878 h 381804"/>
                  <a:gd name="connsiteX5" fmla="*/ 0 w 389380"/>
                  <a:gd name="connsiteY5" fmla="*/ 153308 h 381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9380" h="381804">
                    <a:moveTo>
                      <a:pt x="0" y="153308"/>
                    </a:moveTo>
                    <a:cubicBezTo>
                      <a:pt x="41129" y="216854"/>
                      <a:pt x="97092" y="272288"/>
                      <a:pt x="167215" y="313526"/>
                    </a:cubicBezTo>
                    <a:cubicBezTo>
                      <a:pt x="237337" y="354764"/>
                      <a:pt x="312853" y="376396"/>
                      <a:pt x="388369" y="381805"/>
                    </a:cubicBezTo>
                    <a:cubicBezTo>
                      <a:pt x="392415" y="262148"/>
                      <a:pt x="384324" y="143843"/>
                      <a:pt x="364096" y="27567"/>
                    </a:cubicBezTo>
                    <a:cubicBezTo>
                      <a:pt x="360725" y="7286"/>
                      <a:pt x="339823" y="-4883"/>
                      <a:pt x="320270" y="1878"/>
                    </a:cubicBezTo>
                    <a:cubicBezTo>
                      <a:pt x="209692" y="40411"/>
                      <a:pt x="102486" y="91789"/>
                      <a:pt x="0" y="153308"/>
                    </a:cubicBezTo>
                    <a:close/>
                  </a:path>
                </a:pathLst>
              </a:custGeom>
              <a:solidFill>
                <a:srgbClr val="531588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6" name="Freeform: Shape 28">
                <a:extLst>
                  <a:ext uri="{FF2B5EF4-FFF2-40B4-BE49-F238E27FC236}">
                    <a16:creationId xmlns:a16="http://schemas.microsoft.com/office/drawing/2014/main" id="{6F9AAD8A-16AB-5846-B71D-BE1BCD0E5495}"/>
                  </a:ext>
                </a:extLst>
              </p:cNvPr>
              <p:cNvSpPr/>
              <p:nvPr/>
            </p:nvSpPr>
            <p:spPr>
              <a:xfrm>
                <a:off x="1434134" y="1896265"/>
                <a:ext cx="377581" cy="378574"/>
              </a:xfrm>
              <a:custGeom>
                <a:avLst/>
                <a:gdLst>
                  <a:gd name="connsiteX0" fmla="*/ 377581 w 377581"/>
                  <a:gd name="connsiteY0" fmla="*/ 189287 h 378574"/>
                  <a:gd name="connsiteX1" fmla="*/ 188791 w 377581"/>
                  <a:gd name="connsiteY1" fmla="*/ 378575 h 378574"/>
                  <a:gd name="connsiteX2" fmla="*/ 0 w 377581"/>
                  <a:gd name="connsiteY2" fmla="*/ 189287 h 378574"/>
                  <a:gd name="connsiteX3" fmla="*/ 188791 w 377581"/>
                  <a:gd name="connsiteY3" fmla="*/ 0 h 378574"/>
                  <a:gd name="connsiteX4" fmla="*/ 377581 w 377581"/>
                  <a:gd name="connsiteY4" fmla="*/ 189287 h 378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581" h="378574">
                    <a:moveTo>
                      <a:pt x="377581" y="189287"/>
                    </a:moveTo>
                    <a:cubicBezTo>
                      <a:pt x="377581" y="293828"/>
                      <a:pt x="293057" y="378575"/>
                      <a:pt x="188791" y="378575"/>
                    </a:cubicBezTo>
                    <a:cubicBezTo>
                      <a:pt x="84525" y="378575"/>
                      <a:pt x="0" y="293828"/>
                      <a:pt x="0" y="189287"/>
                    </a:cubicBezTo>
                    <a:cubicBezTo>
                      <a:pt x="0" y="84747"/>
                      <a:pt x="84525" y="0"/>
                      <a:pt x="188791" y="0"/>
                    </a:cubicBezTo>
                    <a:cubicBezTo>
                      <a:pt x="293057" y="0"/>
                      <a:pt x="377581" y="84747"/>
                      <a:pt x="377581" y="189287"/>
                    </a:cubicBezTo>
                    <a:close/>
                  </a:path>
                </a:pathLst>
              </a:custGeom>
              <a:solidFill>
                <a:srgbClr val="531588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7" name="Freeform: Shape 29">
                <a:extLst>
                  <a:ext uri="{FF2B5EF4-FFF2-40B4-BE49-F238E27FC236}">
                    <a16:creationId xmlns:a16="http://schemas.microsoft.com/office/drawing/2014/main" id="{36319275-37EF-D841-9D84-068F687FE4AA}"/>
                  </a:ext>
                </a:extLst>
              </p:cNvPr>
              <p:cNvSpPr/>
              <p:nvPr/>
            </p:nvSpPr>
            <p:spPr>
              <a:xfrm>
                <a:off x="1476612" y="1938855"/>
                <a:ext cx="292625" cy="293395"/>
              </a:xfrm>
              <a:custGeom>
                <a:avLst/>
                <a:gdLst>
                  <a:gd name="connsiteX0" fmla="*/ 292625 w 292625"/>
                  <a:gd name="connsiteY0" fmla="*/ 146698 h 293395"/>
                  <a:gd name="connsiteX1" fmla="*/ 146313 w 292625"/>
                  <a:gd name="connsiteY1" fmla="*/ 293396 h 293395"/>
                  <a:gd name="connsiteX2" fmla="*/ 0 w 292625"/>
                  <a:gd name="connsiteY2" fmla="*/ 146698 h 293395"/>
                  <a:gd name="connsiteX3" fmla="*/ 146313 w 292625"/>
                  <a:gd name="connsiteY3" fmla="*/ 0 h 293395"/>
                  <a:gd name="connsiteX4" fmla="*/ 292625 w 292625"/>
                  <a:gd name="connsiteY4" fmla="*/ 146698 h 293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625" h="293395">
                    <a:moveTo>
                      <a:pt x="292625" y="146698"/>
                    </a:moveTo>
                    <a:cubicBezTo>
                      <a:pt x="292625" y="227717"/>
                      <a:pt x="227119" y="293396"/>
                      <a:pt x="146313" y="293396"/>
                    </a:cubicBezTo>
                    <a:cubicBezTo>
                      <a:pt x="65506" y="293396"/>
                      <a:pt x="0" y="227717"/>
                      <a:pt x="0" y="146698"/>
                    </a:cubicBezTo>
                    <a:cubicBezTo>
                      <a:pt x="0" y="65679"/>
                      <a:pt x="65506" y="0"/>
                      <a:pt x="146313" y="0"/>
                    </a:cubicBezTo>
                    <a:cubicBezTo>
                      <a:pt x="227119" y="0"/>
                      <a:pt x="292625" y="65679"/>
                      <a:pt x="292625" y="146698"/>
                    </a:cubicBezTo>
                    <a:close/>
                  </a:path>
                </a:pathLst>
              </a:custGeom>
              <a:solidFill>
                <a:srgbClr val="E5E2F2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8" name="Freeform: Shape 30">
                <a:extLst>
                  <a:ext uri="{FF2B5EF4-FFF2-40B4-BE49-F238E27FC236}">
                    <a16:creationId xmlns:a16="http://schemas.microsoft.com/office/drawing/2014/main" id="{1D66BC3A-1B39-624A-A3E0-315FEEEE0027}"/>
                  </a:ext>
                </a:extLst>
              </p:cNvPr>
              <p:cNvSpPr/>
              <p:nvPr/>
            </p:nvSpPr>
            <p:spPr>
              <a:xfrm>
                <a:off x="1709903" y="1690753"/>
                <a:ext cx="180699" cy="181175"/>
              </a:xfrm>
              <a:custGeom>
                <a:avLst/>
                <a:gdLst>
                  <a:gd name="connsiteX0" fmla="*/ 180700 w 180699"/>
                  <a:gd name="connsiteY0" fmla="*/ 90588 h 181175"/>
                  <a:gd name="connsiteX1" fmla="*/ 90350 w 180699"/>
                  <a:gd name="connsiteY1" fmla="*/ 181175 h 181175"/>
                  <a:gd name="connsiteX2" fmla="*/ 0 w 180699"/>
                  <a:gd name="connsiteY2" fmla="*/ 90588 h 181175"/>
                  <a:gd name="connsiteX3" fmla="*/ 90350 w 180699"/>
                  <a:gd name="connsiteY3" fmla="*/ 0 h 181175"/>
                  <a:gd name="connsiteX4" fmla="*/ 180700 w 180699"/>
                  <a:gd name="connsiteY4" fmla="*/ 90588 h 181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699" h="181175">
                    <a:moveTo>
                      <a:pt x="180700" y="90588"/>
                    </a:moveTo>
                    <a:cubicBezTo>
                      <a:pt x="180700" y="140618"/>
                      <a:pt x="140249" y="181175"/>
                      <a:pt x="90350" y="181175"/>
                    </a:cubicBezTo>
                    <a:cubicBezTo>
                      <a:pt x="40451" y="181175"/>
                      <a:pt x="0" y="140618"/>
                      <a:pt x="0" y="90588"/>
                    </a:cubicBezTo>
                    <a:cubicBezTo>
                      <a:pt x="0" y="40557"/>
                      <a:pt x="40451" y="0"/>
                      <a:pt x="90350" y="0"/>
                    </a:cubicBezTo>
                    <a:cubicBezTo>
                      <a:pt x="140249" y="0"/>
                      <a:pt x="180700" y="40557"/>
                      <a:pt x="180700" y="90588"/>
                    </a:cubicBezTo>
                    <a:close/>
                  </a:path>
                </a:pathLst>
              </a:custGeom>
              <a:solidFill>
                <a:srgbClr val="531588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9" name="Freeform: Shape 31">
                <a:extLst>
                  <a:ext uri="{FF2B5EF4-FFF2-40B4-BE49-F238E27FC236}">
                    <a16:creationId xmlns:a16="http://schemas.microsoft.com/office/drawing/2014/main" id="{025521E7-0B95-624F-A8E1-0A0D8647586F}"/>
                  </a:ext>
                </a:extLst>
              </p:cNvPr>
              <p:cNvSpPr/>
              <p:nvPr/>
            </p:nvSpPr>
            <p:spPr>
              <a:xfrm>
                <a:off x="1742267" y="1723202"/>
                <a:ext cx="115971" cy="116276"/>
              </a:xfrm>
              <a:custGeom>
                <a:avLst/>
                <a:gdLst>
                  <a:gd name="connsiteX0" fmla="*/ 115971 w 115971"/>
                  <a:gd name="connsiteY0" fmla="*/ 58138 h 116276"/>
                  <a:gd name="connsiteX1" fmla="*/ 57986 w 115971"/>
                  <a:gd name="connsiteY1" fmla="*/ 116277 h 116276"/>
                  <a:gd name="connsiteX2" fmla="*/ 0 w 115971"/>
                  <a:gd name="connsiteY2" fmla="*/ 58138 h 116276"/>
                  <a:gd name="connsiteX3" fmla="*/ 57986 w 115971"/>
                  <a:gd name="connsiteY3" fmla="*/ 0 h 116276"/>
                  <a:gd name="connsiteX4" fmla="*/ 115971 w 115971"/>
                  <a:gd name="connsiteY4" fmla="*/ 58138 h 116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971" h="116276">
                    <a:moveTo>
                      <a:pt x="115971" y="58138"/>
                    </a:moveTo>
                    <a:cubicBezTo>
                      <a:pt x="115971" y="90247"/>
                      <a:pt x="90010" y="116277"/>
                      <a:pt x="57986" y="116277"/>
                    </a:cubicBezTo>
                    <a:cubicBezTo>
                      <a:pt x="25961" y="116277"/>
                      <a:pt x="0" y="90247"/>
                      <a:pt x="0" y="58138"/>
                    </a:cubicBezTo>
                    <a:cubicBezTo>
                      <a:pt x="0" y="26029"/>
                      <a:pt x="25961" y="0"/>
                      <a:pt x="57986" y="0"/>
                    </a:cubicBezTo>
                    <a:cubicBezTo>
                      <a:pt x="90010" y="0"/>
                      <a:pt x="115971" y="26029"/>
                      <a:pt x="115971" y="58138"/>
                    </a:cubicBezTo>
                    <a:close/>
                  </a:path>
                </a:pathLst>
              </a:custGeom>
              <a:solidFill>
                <a:srgbClr val="E5E2F2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20" name="Freeform: Shape 32">
                <a:extLst>
                  <a:ext uri="{FF2B5EF4-FFF2-40B4-BE49-F238E27FC236}">
                    <a16:creationId xmlns:a16="http://schemas.microsoft.com/office/drawing/2014/main" id="{D5558A36-872F-BE49-A7A1-21677D4C5189}"/>
                  </a:ext>
                </a:extLst>
              </p:cNvPr>
              <p:cNvSpPr/>
              <p:nvPr/>
            </p:nvSpPr>
            <p:spPr>
              <a:xfrm>
                <a:off x="973508" y="2394057"/>
                <a:ext cx="508452" cy="801638"/>
              </a:xfrm>
              <a:custGeom>
                <a:avLst/>
                <a:gdLst>
                  <a:gd name="connsiteX0" fmla="*/ 496361 w 508452"/>
                  <a:gd name="connsiteY0" fmla="*/ 111308 h 801638"/>
                  <a:gd name="connsiteX1" fmla="*/ 45286 w 508452"/>
                  <a:gd name="connsiteY1" fmla="*/ 790715 h 801638"/>
                  <a:gd name="connsiteX2" fmla="*/ 12248 w 508452"/>
                  <a:gd name="connsiteY2" fmla="*/ 798151 h 801638"/>
                  <a:gd name="connsiteX3" fmla="*/ 12248 w 508452"/>
                  <a:gd name="connsiteY3" fmla="*/ 798151 h 801638"/>
                  <a:gd name="connsiteX4" fmla="*/ 2808 w 508452"/>
                  <a:gd name="connsiteY4" fmla="*/ 765702 h 801638"/>
                  <a:gd name="connsiteX5" fmla="*/ 373647 w 508452"/>
                  <a:gd name="connsiteY5" fmla="*/ 38973 h 801638"/>
                  <a:gd name="connsiteX6" fmla="*/ 473436 w 508452"/>
                  <a:gd name="connsiteY6" fmla="*/ 9904 h 801638"/>
                  <a:gd name="connsiteX7" fmla="*/ 473436 w 508452"/>
                  <a:gd name="connsiteY7" fmla="*/ 9904 h 801638"/>
                  <a:gd name="connsiteX8" fmla="*/ 496361 w 508452"/>
                  <a:gd name="connsiteY8" fmla="*/ 111308 h 801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452" h="801638">
                    <a:moveTo>
                      <a:pt x="496361" y="111308"/>
                    </a:moveTo>
                    <a:lnTo>
                      <a:pt x="45286" y="790715"/>
                    </a:lnTo>
                    <a:cubicBezTo>
                      <a:pt x="37869" y="801531"/>
                      <a:pt x="23710" y="804911"/>
                      <a:pt x="12248" y="798151"/>
                    </a:cubicBezTo>
                    <a:lnTo>
                      <a:pt x="12248" y="798151"/>
                    </a:lnTo>
                    <a:cubicBezTo>
                      <a:pt x="786" y="791391"/>
                      <a:pt x="-3260" y="777194"/>
                      <a:pt x="2808" y="765702"/>
                    </a:cubicBezTo>
                    <a:lnTo>
                      <a:pt x="373647" y="38973"/>
                    </a:lnTo>
                    <a:cubicBezTo>
                      <a:pt x="392526" y="2467"/>
                      <a:pt x="437701" y="-11053"/>
                      <a:pt x="473436" y="9904"/>
                    </a:cubicBezTo>
                    <a:lnTo>
                      <a:pt x="473436" y="9904"/>
                    </a:lnTo>
                    <a:cubicBezTo>
                      <a:pt x="508498" y="30861"/>
                      <a:pt x="519285" y="76830"/>
                      <a:pt x="496361" y="111308"/>
                    </a:cubicBezTo>
                    <a:close/>
                  </a:path>
                </a:pathLst>
              </a:custGeom>
              <a:solidFill>
                <a:srgbClr val="531588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21" name="Freeform: Shape 33">
                <a:extLst>
                  <a:ext uri="{FF2B5EF4-FFF2-40B4-BE49-F238E27FC236}">
                    <a16:creationId xmlns:a16="http://schemas.microsoft.com/office/drawing/2014/main" id="{5061AE4F-A585-674E-ACFB-6854F791070A}"/>
                  </a:ext>
                </a:extLst>
              </p:cNvPr>
              <p:cNvSpPr/>
              <p:nvPr/>
            </p:nvSpPr>
            <p:spPr>
              <a:xfrm>
                <a:off x="898589" y="2788620"/>
                <a:ext cx="483627" cy="348470"/>
              </a:xfrm>
              <a:custGeom>
                <a:avLst/>
                <a:gdLst>
                  <a:gd name="connsiteX0" fmla="*/ 212579 w 483627"/>
                  <a:gd name="connsiteY0" fmla="*/ 171035 h 348470"/>
                  <a:gd name="connsiteX1" fmla="*/ 6257 w 483627"/>
                  <a:gd name="connsiteY1" fmla="*/ 0 h 348470"/>
                  <a:gd name="connsiteX2" fmla="*/ 189 w 483627"/>
                  <a:gd name="connsiteY2" fmla="*/ 84503 h 348470"/>
                  <a:gd name="connsiteX3" fmla="*/ 69637 w 483627"/>
                  <a:gd name="connsiteY3" fmla="*/ 227145 h 348470"/>
                  <a:gd name="connsiteX4" fmla="*/ 156616 w 483627"/>
                  <a:gd name="connsiteY4" fmla="*/ 283931 h 348470"/>
                  <a:gd name="connsiteX5" fmla="*/ 248314 w 483627"/>
                  <a:gd name="connsiteY5" fmla="*/ 332605 h 348470"/>
                  <a:gd name="connsiteX6" fmla="*/ 406763 w 483627"/>
                  <a:gd name="connsiteY6" fmla="*/ 323817 h 348470"/>
                  <a:gd name="connsiteX7" fmla="*/ 483628 w 483627"/>
                  <a:gd name="connsiteY7" fmla="*/ 272439 h 348470"/>
                  <a:gd name="connsiteX8" fmla="*/ 212579 w 483627"/>
                  <a:gd name="connsiteY8" fmla="*/ 171035 h 348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3627" h="348470">
                    <a:moveTo>
                      <a:pt x="212579" y="171035"/>
                    </a:moveTo>
                    <a:cubicBezTo>
                      <a:pt x="133017" y="124389"/>
                      <a:pt x="64243" y="66251"/>
                      <a:pt x="6257" y="0"/>
                    </a:cubicBezTo>
                    <a:cubicBezTo>
                      <a:pt x="3560" y="28393"/>
                      <a:pt x="1538" y="56110"/>
                      <a:pt x="189" y="84503"/>
                    </a:cubicBezTo>
                    <a:cubicBezTo>
                      <a:pt x="-2508" y="140614"/>
                      <a:pt x="23788" y="194020"/>
                      <a:pt x="69637" y="227145"/>
                    </a:cubicBezTo>
                    <a:cubicBezTo>
                      <a:pt x="97281" y="247426"/>
                      <a:pt x="126274" y="266355"/>
                      <a:pt x="156616" y="283931"/>
                    </a:cubicBezTo>
                    <a:cubicBezTo>
                      <a:pt x="186957" y="301508"/>
                      <a:pt x="217298" y="317733"/>
                      <a:pt x="248314" y="332605"/>
                    </a:cubicBezTo>
                    <a:cubicBezTo>
                      <a:pt x="299557" y="356266"/>
                      <a:pt x="358891" y="353562"/>
                      <a:pt x="406763" y="323817"/>
                    </a:cubicBezTo>
                    <a:cubicBezTo>
                      <a:pt x="433059" y="307592"/>
                      <a:pt x="458006" y="290692"/>
                      <a:pt x="483628" y="272439"/>
                    </a:cubicBezTo>
                    <a:cubicBezTo>
                      <a:pt x="390581" y="255538"/>
                      <a:pt x="298883" y="221737"/>
                      <a:pt x="212579" y="171035"/>
                    </a:cubicBezTo>
                    <a:close/>
                  </a:path>
                </a:pathLst>
              </a:custGeom>
              <a:solidFill>
                <a:srgbClr val="531588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22" name="Freeform: Shape 34">
                <a:extLst>
                  <a:ext uri="{FF2B5EF4-FFF2-40B4-BE49-F238E27FC236}">
                    <a16:creationId xmlns:a16="http://schemas.microsoft.com/office/drawing/2014/main" id="{FFD22CB1-D222-164D-B003-8135E72C75EF}"/>
                  </a:ext>
                </a:extLst>
              </p:cNvPr>
              <p:cNvSpPr/>
              <p:nvPr/>
            </p:nvSpPr>
            <p:spPr>
              <a:xfrm>
                <a:off x="1024863" y="2944106"/>
                <a:ext cx="61356" cy="119656"/>
              </a:xfrm>
              <a:custGeom>
                <a:avLst/>
                <a:gdLst>
                  <a:gd name="connsiteX0" fmla="*/ 61357 w 61356"/>
                  <a:gd name="connsiteY0" fmla="*/ 0 h 119656"/>
                  <a:gd name="connsiteX1" fmla="*/ 0 w 61356"/>
                  <a:gd name="connsiteY1" fmla="*/ 119657 h 119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1356" h="119656">
                    <a:moveTo>
                      <a:pt x="61357" y="0"/>
                    </a:moveTo>
                    <a:lnTo>
                      <a:pt x="0" y="119657"/>
                    </a:lnTo>
                  </a:path>
                </a:pathLst>
              </a:custGeom>
              <a:ln w="6725" cap="flat">
                <a:solidFill>
                  <a:srgbClr val="30134C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23" name="Freeform: Shape 35">
                <a:extLst>
                  <a:ext uri="{FF2B5EF4-FFF2-40B4-BE49-F238E27FC236}">
                    <a16:creationId xmlns:a16="http://schemas.microsoft.com/office/drawing/2014/main" id="{9705EE75-5334-5D44-AD81-4DB1FD42C562}"/>
                  </a:ext>
                </a:extLst>
              </p:cNvPr>
              <p:cNvSpPr/>
              <p:nvPr/>
            </p:nvSpPr>
            <p:spPr>
              <a:xfrm>
                <a:off x="1082849" y="2986020"/>
                <a:ext cx="68773" cy="102756"/>
              </a:xfrm>
              <a:custGeom>
                <a:avLst/>
                <a:gdLst>
                  <a:gd name="connsiteX0" fmla="*/ 68774 w 68773"/>
                  <a:gd name="connsiteY0" fmla="*/ 0 h 102756"/>
                  <a:gd name="connsiteX1" fmla="*/ 0 w 68773"/>
                  <a:gd name="connsiteY1" fmla="*/ 102756 h 102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773" h="102756">
                    <a:moveTo>
                      <a:pt x="68774" y="0"/>
                    </a:moveTo>
                    <a:lnTo>
                      <a:pt x="0" y="102756"/>
                    </a:lnTo>
                  </a:path>
                </a:pathLst>
              </a:custGeom>
              <a:ln w="6725" cap="flat">
                <a:solidFill>
                  <a:srgbClr val="30134C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</p:grp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76577961-61EF-0B42-9624-B9AEF1E0B4A6}"/>
                </a:ext>
              </a:extLst>
            </p:cNvPr>
            <p:cNvSpPr/>
            <p:nvPr/>
          </p:nvSpPr>
          <p:spPr>
            <a:xfrm>
              <a:off x="1357269" y="3674891"/>
              <a:ext cx="319595" cy="336661"/>
            </a:xfrm>
            <a:custGeom>
              <a:avLst/>
              <a:gdLst>
                <a:gd name="connsiteX0" fmla="*/ 319596 w 319595"/>
                <a:gd name="connsiteY0" fmla="*/ 176443 h 336661"/>
                <a:gd name="connsiteX1" fmla="*/ 159798 w 319595"/>
                <a:gd name="connsiteY1" fmla="*/ 336661 h 336661"/>
                <a:gd name="connsiteX2" fmla="*/ 0 w 319595"/>
                <a:gd name="connsiteY2" fmla="*/ 176443 h 336661"/>
                <a:gd name="connsiteX3" fmla="*/ 144964 w 319595"/>
                <a:gd name="connsiteY3" fmla="*/ 0 h 336661"/>
                <a:gd name="connsiteX4" fmla="*/ 319596 w 319595"/>
                <a:gd name="connsiteY4" fmla="*/ 176443 h 336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595" h="336661">
                  <a:moveTo>
                    <a:pt x="319596" y="176443"/>
                  </a:moveTo>
                  <a:cubicBezTo>
                    <a:pt x="319596" y="265003"/>
                    <a:pt x="248125" y="336661"/>
                    <a:pt x="159798" y="336661"/>
                  </a:cubicBezTo>
                  <a:cubicBezTo>
                    <a:pt x="71471" y="336661"/>
                    <a:pt x="0" y="265003"/>
                    <a:pt x="0" y="176443"/>
                  </a:cubicBezTo>
                  <a:cubicBezTo>
                    <a:pt x="0" y="87883"/>
                    <a:pt x="56637" y="0"/>
                    <a:pt x="144964" y="0"/>
                  </a:cubicBezTo>
                  <a:cubicBezTo>
                    <a:pt x="233291" y="0"/>
                    <a:pt x="319596" y="87883"/>
                    <a:pt x="319596" y="176443"/>
                  </a:cubicBezTo>
                  <a:close/>
                </a:path>
              </a:pathLst>
            </a:custGeom>
            <a:solidFill>
              <a:schemeClr val="accent5"/>
            </a:solidFill>
            <a:ln w="67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8" name="Freeform: Shape 37">
              <a:extLst>
                <a:ext uri="{FF2B5EF4-FFF2-40B4-BE49-F238E27FC236}">
                  <a16:creationId xmlns:a16="http://schemas.microsoft.com/office/drawing/2014/main" id="{A5B8A138-8C2D-6B4D-A9D5-68D40BBD8E8C}"/>
                </a:ext>
              </a:extLst>
            </p:cNvPr>
            <p:cNvSpPr/>
            <p:nvPr/>
          </p:nvSpPr>
          <p:spPr>
            <a:xfrm>
              <a:off x="1999832" y="3578896"/>
              <a:ext cx="169237" cy="169006"/>
            </a:xfrm>
            <a:custGeom>
              <a:avLst/>
              <a:gdLst>
                <a:gd name="connsiteX0" fmla="*/ 169237 w 169237"/>
                <a:gd name="connsiteY0" fmla="*/ 84503 h 169006"/>
                <a:gd name="connsiteX1" fmla="*/ 100464 w 169237"/>
                <a:gd name="connsiteY1" fmla="*/ 169007 h 169006"/>
                <a:gd name="connsiteX2" fmla="*/ 0 w 169237"/>
                <a:gd name="connsiteY2" fmla="*/ 84503 h 169006"/>
                <a:gd name="connsiteX3" fmla="*/ 84282 w 169237"/>
                <a:gd name="connsiteY3" fmla="*/ 0 h 169006"/>
                <a:gd name="connsiteX4" fmla="*/ 169237 w 169237"/>
                <a:gd name="connsiteY4" fmla="*/ 84503 h 16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37" h="169006">
                  <a:moveTo>
                    <a:pt x="169237" y="84503"/>
                  </a:moveTo>
                  <a:cubicBezTo>
                    <a:pt x="169237" y="131149"/>
                    <a:pt x="146987" y="169007"/>
                    <a:pt x="100464" y="169007"/>
                  </a:cubicBezTo>
                  <a:cubicBezTo>
                    <a:pt x="53940" y="169007"/>
                    <a:pt x="0" y="131149"/>
                    <a:pt x="0" y="84503"/>
                  </a:cubicBezTo>
                  <a:cubicBezTo>
                    <a:pt x="0" y="37858"/>
                    <a:pt x="37758" y="0"/>
                    <a:pt x="84282" y="0"/>
                  </a:cubicBezTo>
                  <a:cubicBezTo>
                    <a:pt x="130805" y="0"/>
                    <a:pt x="169237" y="37858"/>
                    <a:pt x="169237" y="84503"/>
                  </a:cubicBezTo>
                  <a:close/>
                </a:path>
              </a:pathLst>
            </a:custGeom>
            <a:solidFill>
              <a:schemeClr val="accent5"/>
            </a:solidFill>
            <a:ln w="67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9" name="Freeform: Shape 38">
              <a:extLst>
                <a:ext uri="{FF2B5EF4-FFF2-40B4-BE49-F238E27FC236}">
                  <a16:creationId xmlns:a16="http://schemas.microsoft.com/office/drawing/2014/main" id="{DA6209D2-84FD-5B42-96EC-28AAC5084AC7}"/>
                </a:ext>
              </a:extLst>
            </p:cNvPr>
            <p:cNvSpPr/>
            <p:nvPr/>
          </p:nvSpPr>
          <p:spPr>
            <a:xfrm>
              <a:off x="2168407" y="4091686"/>
              <a:ext cx="397289" cy="403021"/>
            </a:xfrm>
            <a:custGeom>
              <a:avLst/>
              <a:gdLst>
                <a:gd name="connsiteX0" fmla="*/ 377569 w 397289"/>
                <a:gd name="connsiteY0" fmla="*/ 131463 h 403021"/>
                <a:gd name="connsiteX1" fmla="*/ 277105 w 397289"/>
                <a:gd name="connsiteY1" fmla="*/ 387002 h 403021"/>
                <a:gd name="connsiteX2" fmla="*/ 22238 w 397289"/>
                <a:gd name="connsiteY2" fmla="*/ 286273 h 403021"/>
                <a:gd name="connsiteX3" fmla="*/ 93709 w 397289"/>
                <a:gd name="connsiteY3" fmla="*/ 17215 h 403021"/>
                <a:gd name="connsiteX4" fmla="*/ 377569 w 397289"/>
                <a:gd name="connsiteY4" fmla="*/ 131463 h 403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289" h="403021">
                  <a:moveTo>
                    <a:pt x="377569" y="131463"/>
                  </a:moveTo>
                  <a:cubicBezTo>
                    <a:pt x="428812" y="225431"/>
                    <a:pt x="374872" y="344412"/>
                    <a:pt x="277105" y="387002"/>
                  </a:cubicBezTo>
                  <a:cubicBezTo>
                    <a:pt x="178664" y="429591"/>
                    <a:pt x="64716" y="384297"/>
                    <a:pt x="22238" y="286273"/>
                  </a:cubicBezTo>
                  <a:cubicBezTo>
                    <a:pt x="-20240" y="187574"/>
                    <a:pt x="-4732" y="59804"/>
                    <a:pt x="93709" y="17215"/>
                  </a:cubicBezTo>
                  <a:cubicBezTo>
                    <a:pt x="191475" y="-25375"/>
                    <a:pt x="311492" y="10455"/>
                    <a:pt x="377569" y="131463"/>
                  </a:cubicBezTo>
                  <a:close/>
                </a:path>
              </a:pathLst>
            </a:custGeom>
            <a:solidFill>
              <a:schemeClr val="accent5"/>
            </a:solidFill>
            <a:ln w="67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0" name="Freeform: Shape 39">
              <a:extLst>
                <a:ext uri="{FF2B5EF4-FFF2-40B4-BE49-F238E27FC236}">
                  <a16:creationId xmlns:a16="http://schemas.microsoft.com/office/drawing/2014/main" id="{EF0C22F9-7720-9049-95FD-90A9E87C46BE}"/>
                </a:ext>
              </a:extLst>
            </p:cNvPr>
            <p:cNvSpPr/>
            <p:nvPr/>
          </p:nvSpPr>
          <p:spPr>
            <a:xfrm>
              <a:off x="170585" y="3310513"/>
              <a:ext cx="173957" cy="179823"/>
            </a:xfrm>
            <a:custGeom>
              <a:avLst/>
              <a:gdLst>
                <a:gd name="connsiteX0" fmla="*/ 173957 w 173957"/>
                <a:gd name="connsiteY0" fmla="*/ 92616 h 179823"/>
                <a:gd name="connsiteX1" fmla="*/ 86979 w 173957"/>
                <a:gd name="connsiteY1" fmla="*/ 179823 h 179823"/>
                <a:gd name="connsiteX2" fmla="*/ 0 w 173957"/>
                <a:gd name="connsiteY2" fmla="*/ 92616 h 179823"/>
                <a:gd name="connsiteX3" fmla="*/ 78213 w 173957"/>
                <a:gd name="connsiteY3" fmla="*/ 0 h 179823"/>
                <a:gd name="connsiteX4" fmla="*/ 173957 w 173957"/>
                <a:gd name="connsiteY4" fmla="*/ 92616 h 179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957" h="179823">
                  <a:moveTo>
                    <a:pt x="173957" y="92616"/>
                  </a:moveTo>
                  <a:cubicBezTo>
                    <a:pt x="173957" y="140614"/>
                    <a:pt x="134850" y="179823"/>
                    <a:pt x="86979" y="179823"/>
                  </a:cubicBezTo>
                  <a:cubicBezTo>
                    <a:pt x="39107" y="179823"/>
                    <a:pt x="0" y="140614"/>
                    <a:pt x="0" y="92616"/>
                  </a:cubicBezTo>
                  <a:cubicBezTo>
                    <a:pt x="0" y="44618"/>
                    <a:pt x="30341" y="0"/>
                    <a:pt x="78213" y="0"/>
                  </a:cubicBezTo>
                  <a:cubicBezTo>
                    <a:pt x="126085" y="0"/>
                    <a:pt x="173957" y="44618"/>
                    <a:pt x="173957" y="92616"/>
                  </a:cubicBezTo>
                  <a:close/>
                </a:path>
              </a:pathLst>
            </a:custGeom>
            <a:solidFill>
              <a:srgbClr val="E5E2F2"/>
            </a:solidFill>
            <a:ln w="67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1" name="Freeform: Shape 40">
              <a:extLst>
                <a:ext uri="{FF2B5EF4-FFF2-40B4-BE49-F238E27FC236}">
                  <a16:creationId xmlns:a16="http://schemas.microsoft.com/office/drawing/2014/main" id="{93318805-38C4-E84E-B2BB-C6ABA1A63BA3}"/>
                </a:ext>
              </a:extLst>
            </p:cNvPr>
            <p:cNvSpPr/>
            <p:nvPr/>
          </p:nvSpPr>
          <p:spPr>
            <a:xfrm>
              <a:off x="128174" y="2552562"/>
              <a:ext cx="318493" cy="322302"/>
            </a:xfrm>
            <a:custGeom>
              <a:avLst/>
              <a:gdLst>
                <a:gd name="connsiteX0" fmla="*/ 254801 w 318493"/>
                <a:gd name="connsiteY0" fmla="*/ 283380 h 322302"/>
                <a:gd name="connsiteX1" fmla="*/ 27578 w 318493"/>
                <a:gd name="connsiteY1" fmla="*/ 269859 h 322302"/>
                <a:gd name="connsiteX2" fmla="*/ 70055 w 318493"/>
                <a:gd name="connsiteY2" fmla="*/ 30546 h 322302"/>
                <a:gd name="connsiteX3" fmla="*/ 288513 w 318493"/>
                <a:gd name="connsiteY3" fmla="*/ 64347 h 322302"/>
                <a:gd name="connsiteX4" fmla="*/ 254801 w 318493"/>
                <a:gd name="connsiteY4" fmla="*/ 283380 h 322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8493" h="322302">
                  <a:moveTo>
                    <a:pt x="254801" y="283380"/>
                  </a:moveTo>
                  <a:cubicBezTo>
                    <a:pt x="185353" y="334758"/>
                    <a:pt x="78821" y="340166"/>
                    <a:pt x="27578" y="269859"/>
                  </a:cubicBezTo>
                  <a:cubicBezTo>
                    <a:pt x="-23666" y="200228"/>
                    <a:pt x="-67" y="81924"/>
                    <a:pt x="70055" y="30546"/>
                  </a:cubicBezTo>
                  <a:cubicBezTo>
                    <a:pt x="139503" y="-20832"/>
                    <a:pt x="237270" y="-5960"/>
                    <a:pt x="288513" y="64347"/>
                  </a:cubicBezTo>
                  <a:cubicBezTo>
                    <a:pt x="339082" y="133978"/>
                    <a:pt x="324249" y="232002"/>
                    <a:pt x="254801" y="283380"/>
                  </a:cubicBezTo>
                  <a:close/>
                </a:path>
              </a:pathLst>
            </a:custGeom>
            <a:solidFill>
              <a:srgbClr val="E5E2F2"/>
            </a:solidFill>
            <a:ln w="67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14016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66146" y="1192098"/>
            <a:ext cx="11804381" cy="1689647"/>
          </a:xfrm>
        </p:spPr>
        <p:txBody>
          <a:bodyPr>
            <a:norm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sz="2400" dirty="0"/>
              <a:t>All communications are governed by protocols.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400" dirty="0"/>
              <a:t>Protocols are the rules that communications will follow.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400" dirty="0"/>
              <a:t>These rules will vary depending on the protocol.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2940"/>
            <a:ext cx="12192000" cy="101006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altLang="en-US" sz="2200" b="1" dirty="0">
                <a:solidFill>
                  <a:schemeClr val="accent1">
                    <a:lumMod val="75000"/>
                  </a:schemeClr>
                </a:solidFill>
              </a:rPr>
              <a:t>The Rules</a:t>
            </a:r>
            <a:r>
              <a:rPr lang="en-US" altLang="en-US" sz="4400" dirty="0"/>
              <a:t/>
            </a:r>
            <a:br>
              <a:rPr lang="en-US" altLang="en-US" sz="4400" dirty="0"/>
            </a:br>
            <a:r>
              <a:rPr lang="en-US" altLang="en-US" sz="4900" b="1" dirty="0">
                <a:solidFill>
                  <a:schemeClr val="accent1">
                    <a:lumMod val="75000"/>
                  </a:schemeClr>
                </a:solidFill>
              </a:rPr>
              <a:t>Communications Protocols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46" y="2966496"/>
            <a:ext cx="5761291" cy="3891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438" y="2966497"/>
            <a:ext cx="6090392" cy="3891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63377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34478" y="1144594"/>
            <a:ext cx="11804381" cy="4080548"/>
          </a:xfrm>
        </p:spPr>
        <p:txBody>
          <a:bodyPr>
            <a:normAutofit lnSpcReduction="10000"/>
          </a:bodyPr>
          <a:lstStyle/>
          <a:p>
            <a:pPr marL="0" indent="0" algn="l" rtl="0">
              <a:buNone/>
            </a:pPr>
            <a:r>
              <a:rPr lang="en-US" sz="3200" dirty="0"/>
              <a:t>Common computer protocols must be in agreement and include the following requirements: </a:t>
            </a:r>
          </a:p>
          <a:p>
            <a:pPr lvl="1" algn="l" rtl="0"/>
            <a:r>
              <a:rPr lang="en-US" sz="3200" dirty="0"/>
              <a:t>Message encoding</a:t>
            </a:r>
          </a:p>
          <a:p>
            <a:pPr lvl="1" algn="l" rtl="0"/>
            <a:r>
              <a:rPr lang="en-US" sz="3200" dirty="0"/>
              <a:t>Message formatting and encapsulation</a:t>
            </a:r>
          </a:p>
          <a:p>
            <a:pPr lvl="1" algn="l" rtl="0"/>
            <a:r>
              <a:rPr lang="en-US" sz="3200" dirty="0"/>
              <a:t>Message size</a:t>
            </a:r>
          </a:p>
          <a:p>
            <a:pPr lvl="1" algn="l" rtl="0"/>
            <a:r>
              <a:rPr lang="en-US" sz="3200" dirty="0"/>
              <a:t>Message timing</a:t>
            </a:r>
          </a:p>
          <a:p>
            <a:pPr lvl="1" algn="l" rtl="0"/>
            <a:r>
              <a:rPr lang="en-US" sz="3200" dirty="0"/>
              <a:t>Message delivery options</a:t>
            </a:r>
          </a:p>
          <a:p>
            <a:pPr lvl="1" algn="l" rtl="0"/>
            <a:endParaRPr lang="en-US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rtl="0"/>
            <a:r>
              <a:rPr lang="en-US" altLang="en-US" sz="2200" b="1" dirty="0">
                <a:solidFill>
                  <a:schemeClr val="accent1">
                    <a:lumMod val="75000"/>
                  </a:schemeClr>
                </a:solidFill>
              </a:rPr>
              <a:t>The Rules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4400" b="1" dirty="0">
                <a:solidFill>
                  <a:schemeClr val="accent1">
                    <a:lumMod val="75000"/>
                  </a:schemeClr>
                </a:solidFill>
              </a:rPr>
              <a:t>Network Protocol Requirements</a:t>
            </a:r>
          </a:p>
        </p:txBody>
      </p:sp>
    </p:spTree>
    <p:extLst>
      <p:ext uri="{BB962C8B-B14F-4D97-AF65-F5344CB8AC3E}">
        <p14:creationId xmlns:p14="http://schemas.microsoft.com/office/powerpoint/2010/main" val="192790766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66146" y="1192098"/>
            <a:ext cx="11804381" cy="1424103"/>
          </a:xfrm>
        </p:spPr>
        <p:txBody>
          <a:bodyPr/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sz="2400" dirty="0"/>
              <a:t>Encoding is the process of converting information into another acceptable form for transmission. 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400" dirty="0"/>
              <a:t>Decoding reverses this process to interpret the information. 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rtl="0"/>
            <a:r>
              <a:rPr lang="en-US" altLang="en-US" sz="2200" b="1" dirty="0">
                <a:solidFill>
                  <a:schemeClr val="accent1">
                    <a:lumMod val="75000"/>
                  </a:schemeClr>
                </a:solidFill>
              </a:rPr>
              <a:t>The Rules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4000" b="1" dirty="0">
                <a:solidFill>
                  <a:schemeClr val="accent1">
                    <a:lumMod val="75000"/>
                  </a:schemeClr>
                </a:solidFill>
              </a:rPr>
              <a:t>Message Encoding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55" y="2786334"/>
            <a:ext cx="5684487" cy="3105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557" y="2786334"/>
            <a:ext cx="5792764" cy="3281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058329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66146" y="1192099"/>
            <a:ext cx="11804381" cy="1420475"/>
          </a:xfrm>
        </p:spPr>
        <p:txBody>
          <a:bodyPr/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sz="2400" dirty="0"/>
              <a:t>When a message is sent, it must use a specific format or structure. 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400" dirty="0"/>
              <a:t>Message formats depend on the type of message and the channel that is used to deliver the message. 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The Rules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Message Formatting and Encapsulation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375" y="2739414"/>
            <a:ext cx="3437767" cy="3721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2739412"/>
            <a:ext cx="5597047" cy="3721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034898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66146" y="1192098"/>
            <a:ext cx="11804381" cy="1730111"/>
          </a:xfrm>
        </p:spPr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US" dirty="0"/>
              <a:t>Encoding between hosts must be in an appropriate format for the medium.</a:t>
            </a:r>
          </a:p>
          <a:p>
            <a:pPr lvl="1" algn="l" rtl="0"/>
            <a:r>
              <a:rPr lang="en-US" sz="2800" dirty="0"/>
              <a:t>Messages sent across the network are converted to bits</a:t>
            </a:r>
          </a:p>
          <a:p>
            <a:pPr lvl="1" algn="l" rtl="0"/>
            <a:r>
              <a:rPr lang="en-US" sz="2800" dirty="0"/>
              <a:t>The bits are encoded into a pattern of light, sound, or electrical impulses.</a:t>
            </a:r>
          </a:p>
          <a:p>
            <a:pPr lvl="1" algn="l" rtl="0"/>
            <a:r>
              <a:rPr lang="en-US" sz="2800" dirty="0"/>
              <a:t>The destination host must decode the signals to interpret the message.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The Rules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Message Size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030" y="3888230"/>
            <a:ext cx="3823608" cy="2392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670" y="3937698"/>
            <a:ext cx="3625407" cy="2342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310147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66146" y="1192098"/>
            <a:ext cx="11804381" cy="5271596"/>
          </a:xfrm>
        </p:spPr>
        <p:txBody>
          <a:bodyPr>
            <a:normAutofit fontScale="92500" lnSpcReduction="10000"/>
          </a:bodyPr>
          <a:lstStyle/>
          <a:p>
            <a:pPr marL="0" indent="0" algn="l" rtl="0">
              <a:buNone/>
            </a:pPr>
            <a:r>
              <a:rPr lang="en-US" dirty="0"/>
              <a:t>Message timing includes the following: </a:t>
            </a:r>
          </a:p>
          <a:p>
            <a:pPr marL="647695" lvl="1" indent="-457200" algn="l" rtl="0">
              <a:buFont typeface="+mj-lt"/>
              <a:buAutoNum type="arabicPeriod"/>
            </a:pPr>
            <a:r>
              <a:rPr lang="en-US" sz="2800" b="1" dirty="0"/>
              <a:t>Flow Control –</a:t>
            </a:r>
            <a:r>
              <a:rPr lang="en-US" sz="2800" dirty="0"/>
              <a:t> Manages the rate of data transmission and defines how much information can be sent and the speed at which it can be delivered.</a:t>
            </a:r>
          </a:p>
          <a:p>
            <a:pPr marL="647695" lvl="1" indent="-457200" algn="l" rtl="0">
              <a:buFont typeface="+mj-lt"/>
              <a:buAutoNum type="arabicPeriod"/>
            </a:pPr>
            <a:r>
              <a:rPr lang="en-US" sz="2800" b="1" dirty="0"/>
              <a:t>Response Timeout –</a:t>
            </a:r>
            <a:r>
              <a:rPr lang="en-US" sz="2800" dirty="0"/>
              <a:t> Manages how long a device waits when it does not hear a reply from the destination.</a:t>
            </a:r>
          </a:p>
          <a:p>
            <a:pPr marL="647695" lvl="1" indent="-457200" algn="l" rtl="0">
              <a:buFont typeface="+mj-lt"/>
              <a:buAutoNum type="arabicPeriod"/>
            </a:pPr>
            <a:r>
              <a:rPr lang="en-US" sz="2800" b="1" dirty="0"/>
              <a:t>Access method -</a:t>
            </a:r>
            <a:r>
              <a:rPr lang="en-US" sz="2800" dirty="0"/>
              <a:t> Determines when someone can send a message. </a:t>
            </a:r>
          </a:p>
          <a:p>
            <a:pPr marL="1371600" lvl="2" indent="-457200" algn="l" rtl="0">
              <a:buFont typeface="+mj-lt"/>
              <a:buAutoNum type="arabicPeriod"/>
            </a:pPr>
            <a:r>
              <a:rPr lang="en-US" sz="2800" dirty="0"/>
              <a:t>There may be various rules governing issues like “collisions”. This is when more than one device sends traffic at the same time and the messages become corrupt. </a:t>
            </a:r>
          </a:p>
          <a:p>
            <a:pPr marL="1371600" lvl="2" indent="-457200" algn="l" rtl="0">
              <a:buFont typeface="+mj-lt"/>
              <a:buAutoNum type="arabicPeriod"/>
            </a:pPr>
            <a:r>
              <a:rPr lang="en-US" sz="2800" dirty="0"/>
              <a:t>Some protocols are proactive and attempt to prevent collisions; other protocols are reactive and establish a recovery method after the collision occurs.</a:t>
            </a:r>
          </a:p>
          <a:p>
            <a:pPr marL="0" indent="0" algn="l" rtl="0">
              <a:buNone/>
            </a:pPr>
            <a:endParaRPr lang="en-US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The Rules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Message Timing</a:t>
            </a:r>
          </a:p>
        </p:txBody>
      </p:sp>
    </p:spTree>
    <p:extLst>
      <p:ext uri="{BB962C8B-B14F-4D97-AF65-F5344CB8AC3E}">
        <p14:creationId xmlns:p14="http://schemas.microsoft.com/office/powerpoint/2010/main" val="6040600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93810" y="1065259"/>
            <a:ext cx="11804381" cy="3003637"/>
          </a:xfrm>
        </p:spPr>
        <p:txBody>
          <a:bodyPr>
            <a:normAutofit fontScale="77500" lnSpcReduction="20000"/>
          </a:bodyPr>
          <a:lstStyle/>
          <a:p>
            <a:pPr marL="0" indent="0" algn="l" rtl="0">
              <a:buNone/>
            </a:pPr>
            <a:r>
              <a:rPr lang="en-US" sz="3100" dirty="0"/>
              <a:t>Message delivery may one of the following methods: </a:t>
            </a:r>
          </a:p>
          <a:p>
            <a:pPr lvl="1" algn="l" rtl="0"/>
            <a:r>
              <a:rPr lang="en-US" sz="3100" b="1" dirty="0"/>
              <a:t>Unicast –</a:t>
            </a:r>
            <a:r>
              <a:rPr lang="en-US" sz="3100" dirty="0"/>
              <a:t> one to one communication</a:t>
            </a:r>
          </a:p>
          <a:p>
            <a:pPr lvl="1" algn="l" rtl="0"/>
            <a:r>
              <a:rPr lang="en-US" sz="3100" b="1" dirty="0"/>
              <a:t>Multicast –</a:t>
            </a:r>
            <a:r>
              <a:rPr lang="en-US" sz="3100" dirty="0"/>
              <a:t> one to many, typically not all</a:t>
            </a:r>
          </a:p>
          <a:p>
            <a:pPr lvl="1" algn="l" rtl="0"/>
            <a:r>
              <a:rPr lang="en-US" sz="3100" b="1" dirty="0"/>
              <a:t>Broadcast </a:t>
            </a:r>
            <a:r>
              <a:rPr lang="en-US" sz="3100" dirty="0"/>
              <a:t>– one to all</a:t>
            </a:r>
          </a:p>
          <a:p>
            <a:pPr lvl="1" algn="l" rtl="0"/>
            <a:endParaRPr lang="en-US" sz="3100" dirty="0"/>
          </a:p>
          <a:p>
            <a:pPr marL="0" indent="0" algn="l" rtl="0">
              <a:buNone/>
            </a:pPr>
            <a:r>
              <a:rPr lang="en-US" sz="3100" b="1" dirty="0"/>
              <a:t>Note: </a:t>
            </a:r>
            <a:r>
              <a:rPr lang="en-US" sz="3100" dirty="0"/>
              <a:t>Broadcasts are used in IPv4 networks, but are not an option for IPv6. Later we will also see “</a:t>
            </a:r>
            <a:r>
              <a:rPr lang="en-US" sz="3100" dirty="0" err="1"/>
              <a:t>Anycast</a:t>
            </a:r>
            <a:r>
              <a:rPr lang="en-US" sz="3100" dirty="0"/>
              <a:t>” as an additional delivery option for IPv6.</a:t>
            </a:r>
          </a:p>
          <a:p>
            <a:pPr marL="0" indent="0" algn="l" rtl="0">
              <a:buNone/>
            </a:pPr>
            <a:endParaRPr lang="en-US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The Rules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Message Delivery Options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33" y="4227907"/>
            <a:ext cx="2403020" cy="1793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157" y="4227907"/>
            <a:ext cx="2457519" cy="1793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150" y="4227906"/>
            <a:ext cx="2485765" cy="1793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32203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5233" y="1220546"/>
            <a:ext cx="10130723" cy="2403188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3.2 Protocols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6372484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67730" y="1010070"/>
            <a:ext cx="3676952" cy="4814839"/>
          </a:xfrm>
        </p:spPr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US" altLang="en-US" sz="2400" dirty="0"/>
              <a:t>Network protocols define a common set of rules.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altLang="en-US" sz="2400" dirty="0"/>
              <a:t>Can be implemented on devices in:</a:t>
            </a:r>
          </a:p>
          <a:p>
            <a:pPr lvl="1" algn="l" rtl="0"/>
            <a:r>
              <a:rPr lang="en-US" altLang="en-US" dirty="0"/>
              <a:t>Software</a:t>
            </a:r>
          </a:p>
          <a:p>
            <a:pPr lvl="1" algn="l" rtl="0"/>
            <a:r>
              <a:rPr lang="en-US" altLang="en-US" dirty="0"/>
              <a:t>Hardware</a:t>
            </a:r>
          </a:p>
          <a:p>
            <a:pPr lvl="1" algn="l" rtl="0"/>
            <a:r>
              <a:rPr lang="en-US" altLang="en-US" dirty="0"/>
              <a:t>Both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altLang="en-US" sz="2400" dirty="0"/>
              <a:t>Protocols have their own:</a:t>
            </a:r>
          </a:p>
          <a:p>
            <a:pPr lvl="1" algn="l" rtl="0"/>
            <a:r>
              <a:rPr lang="en-US" altLang="en-US" dirty="0"/>
              <a:t>Function</a:t>
            </a:r>
          </a:p>
          <a:p>
            <a:pPr lvl="1" algn="l" rtl="0"/>
            <a:r>
              <a:rPr lang="en-US" altLang="en-US" dirty="0"/>
              <a:t>Format</a:t>
            </a:r>
          </a:p>
          <a:p>
            <a:pPr lvl="1" algn="l" rtl="0"/>
            <a:r>
              <a:rPr lang="en-US" altLang="en-US" dirty="0"/>
              <a:t>Rules</a:t>
            </a:r>
          </a:p>
          <a:p>
            <a:pPr marL="0" indent="0" algn="l" rtl="0">
              <a:buNone/>
            </a:pPr>
            <a:r>
              <a:rPr lang="en-US" altLang="ja-JP" sz="1200" dirty="0"/>
              <a:t> 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10068"/>
          </a:xfrm>
        </p:spPr>
        <p:txBody>
          <a:bodyPr>
            <a:noAutofit/>
          </a:bodyPr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Protocols</a:t>
            </a: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Network Protocol Overview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865935"/>
              </p:ext>
            </p:extLst>
          </p:nvPr>
        </p:nvGraphicFramePr>
        <p:xfrm>
          <a:off x="3866609" y="1222066"/>
          <a:ext cx="8108644" cy="5243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5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6640"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Protocol Type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Description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Network Communications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enable two or more devices to communicate over one or more networks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184"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Network</a:t>
                      </a:r>
                      <a:r>
                        <a:rPr lang="en-US" sz="2400" baseline="0" dirty="0"/>
                        <a:t> Security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secure data to provide authentication, data integrity, and data encryption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Routing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enable routers to exchange route information, compare path information, and select  best path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9184"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Service Discovery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used for the automatic detection of devices or services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630718238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348342" y="1141791"/>
            <a:ext cx="4954209" cy="1761067"/>
          </a:xfrm>
        </p:spPr>
        <p:txBody>
          <a:bodyPr/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sz="2133" dirty="0"/>
              <a:t>Devices use agreed-upon protocols to communicate</a:t>
            </a:r>
            <a:r>
              <a:rPr lang="en-US" altLang="ja-JP" sz="2133" dirty="0"/>
              <a:t> 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altLang="ja-JP" sz="2133" dirty="0"/>
              <a:t>Protocols may have may have one or functions.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55191"/>
            <a:ext cx="5379960" cy="1010068"/>
          </a:xfrm>
        </p:spPr>
        <p:txBody>
          <a:bodyPr/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Protocols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Network Protocol Functions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446475"/>
              </p:ext>
            </p:extLst>
          </p:nvPr>
        </p:nvGraphicFramePr>
        <p:xfrm>
          <a:off x="502862" y="3054038"/>
          <a:ext cx="11089214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3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Function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Description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Addressing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Identifies</a:t>
                      </a:r>
                      <a:r>
                        <a:rPr lang="en-US" sz="2400" baseline="0" dirty="0"/>
                        <a:t> sender and receiver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Reliability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Provides guaranteed delivery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Flow Control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Ensures data flows at an efficient</a:t>
                      </a:r>
                      <a:r>
                        <a:rPr lang="en-US" sz="2400" baseline="0" dirty="0"/>
                        <a:t> rate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Sequencing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Uniquely labels each transmitted segment of data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Error Detection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Determines if data became corrupted during transmission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Application Interface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Process-to-process communications between network applications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191" y="1"/>
            <a:ext cx="5989260" cy="2901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9442400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70935" y="1315961"/>
            <a:ext cx="6096000" cy="1320683"/>
          </a:xfrm>
        </p:spPr>
        <p:txBody>
          <a:bodyPr>
            <a:normAutofit fontScale="77500" lnSpcReduction="20000"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Networks require the use of several protocols.</a:t>
            </a:r>
            <a:endParaRPr lang="en-US" altLang="ja-JP" sz="3800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altLang="ja-JP" dirty="0"/>
              <a:t>Each protocol has its own function and format</a:t>
            </a:r>
            <a:r>
              <a:rPr lang="en-US" altLang="ja-JP" sz="2600" dirty="0"/>
              <a:t>.</a:t>
            </a:r>
          </a:p>
          <a:p>
            <a:pPr marL="0" indent="0" algn="l" rtl="0">
              <a:buNone/>
            </a:pPr>
            <a:endParaRPr lang="en-US" altLang="ja-JP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55191"/>
            <a:ext cx="6250817" cy="1105952"/>
          </a:xfrm>
        </p:spPr>
        <p:txBody>
          <a:bodyPr/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Protocols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Protocol Interaction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527910"/>
              </p:ext>
            </p:extLst>
          </p:nvPr>
        </p:nvGraphicFramePr>
        <p:xfrm>
          <a:off x="534309" y="2590800"/>
          <a:ext cx="11089215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Protocol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Function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l" rtl="0"/>
                      <a:r>
                        <a:rPr lang="en-US" sz="2400" b="1" dirty="0"/>
                        <a:t>Hypertext Transfer Protocol (HTTP)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28575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400" dirty="0"/>
                        <a:t>Governs the way a web server and a web client interact</a:t>
                      </a:r>
                    </a:p>
                    <a:p>
                      <a:pPr marL="28575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400" dirty="0"/>
                        <a:t>Defines content and format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l" rtl="0"/>
                      <a:r>
                        <a:rPr lang="en-US" sz="2400" b="1" dirty="0"/>
                        <a:t>Transmission Control Protocol (TCP)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28575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400" dirty="0"/>
                        <a:t>Manages the individual conversations</a:t>
                      </a:r>
                    </a:p>
                    <a:p>
                      <a:pPr marL="28575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400" dirty="0"/>
                        <a:t>Provides guaranteed delivery</a:t>
                      </a:r>
                    </a:p>
                    <a:p>
                      <a:pPr marL="28575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400" dirty="0"/>
                        <a:t>Manages flow control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l" rtl="0"/>
                      <a:r>
                        <a:rPr lang="en-US" sz="2400" b="1" dirty="0"/>
                        <a:t>Internet Protocol (IP)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Delivers messages globally from the sender to the receiver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l" rtl="0"/>
                      <a:r>
                        <a:rPr lang="en-US" sz="2400" b="1" dirty="0"/>
                        <a:t>Ethernet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Delivers messages from one NIC to another NIC on the same Ethernet Local Area Network (LAN)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4023" y="-26125"/>
            <a:ext cx="4104879" cy="2648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33927699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5234" y="1220546"/>
            <a:ext cx="10975285" cy="2403188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3.3 Protocol Suites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543746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65903" y="1055662"/>
            <a:ext cx="5330173" cy="5141937"/>
          </a:xfrm>
        </p:spPr>
        <p:txBody>
          <a:bodyPr>
            <a:normAutofit fontScale="70000" lnSpcReduction="20000"/>
          </a:bodyPr>
          <a:lstStyle/>
          <a:p>
            <a:pPr marL="0" indent="0" algn="l" rtl="0">
              <a:buNone/>
            </a:pPr>
            <a:r>
              <a:rPr lang="en-US" sz="3600" dirty="0"/>
              <a:t>There are several protocol suites.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fr-FR" sz="3100" b="1" dirty="0"/>
              <a:t>Internet Protocol Suite or TCP/IP- </a:t>
            </a:r>
            <a:r>
              <a:rPr lang="fr-FR" sz="3100" dirty="0"/>
              <a:t>The</a:t>
            </a:r>
            <a:r>
              <a:rPr lang="fr-FR" sz="3100" b="1" dirty="0"/>
              <a:t> </a:t>
            </a:r>
            <a:r>
              <a:rPr lang="fr-FR" sz="3100" dirty="0" err="1"/>
              <a:t>most</a:t>
            </a:r>
            <a:r>
              <a:rPr lang="fr-FR" sz="3100" dirty="0"/>
              <a:t> </a:t>
            </a:r>
            <a:r>
              <a:rPr lang="fr-FR" sz="3100" dirty="0" err="1"/>
              <a:t>common</a:t>
            </a:r>
            <a:r>
              <a:rPr lang="fr-FR" sz="3100" dirty="0"/>
              <a:t> </a:t>
            </a:r>
            <a:r>
              <a:rPr lang="fr-FR" sz="3100" dirty="0" err="1"/>
              <a:t>protocol</a:t>
            </a:r>
            <a:r>
              <a:rPr lang="fr-FR" sz="3100" dirty="0"/>
              <a:t> suite and m</a:t>
            </a:r>
            <a:r>
              <a:rPr lang="en-US" sz="3100" dirty="0" err="1"/>
              <a:t>aintained</a:t>
            </a:r>
            <a:r>
              <a:rPr lang="en-US" sz="3100" dirty="0"/>
              <a:t> by the Internet Engineering Task Force (IETF)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100" b="1" dirty="0"/>
              <a:t>Open Systems Interconnection (OSI) protocols- </a:t>
            </a:r>
            <a:r>
              <a:rPr lang="en-US" sz="3100" dirty="0"/>
              <a:t>Developed</a:t>
            </a:r>
            <a:r>
              <a:rPr lang="en-US" sz="3100" b="1" dirty="0"/>
              <a:t> </a:t>
            </a:r>
            <a:r>
              <a:rPr lang="en-US" sz="3100" dirty="0"/>
              <a:t>by the International Organization for Standardization (ISO) and the International Telecommunications Union (ITU)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100" b="1" dirty="0"/>
              <a:t>AppleTalk- </a:t>
            </a:r>
            <a:r>
              <a:rPr lang="en-US" sz="3100" dirty="0"/>
              <a:t>Proprietary suite release by Apple Inc.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100" b="1" dirty="0"/>
              <a:t>Novell NetWare- </a:t>
            </a:r>
            <a:r>
              <a:rPr lang="en-US" sz="3100" dirty="0"/>
              <a:t>Proprietary suite developed by Novell Inc.</a:t>
            </a:r>
            <a:endParaRPr lang="en-CA" altLang="en-US" sz="3100" dirty="0"/>
          </a:p>
          <a:p>
            <a:pPr lvl="1" algn="l" rtl="0"/>
            <a:endParaRPr lang="en-CA" altLang="en-US" dirty="0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Protocol Suites</a:t>
            </a:r>
            <a:b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Evolution of Protocol Suites</a:t>
            </a:r>
            <a:endParaRPr lang="en-CA" alt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077" y="55191"/>
            <a:ext cx="6695924" cy="6802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5283629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64766" y="1157263"/>
            <a:ext cx="4479807" cy="4977443"/>
          </a:xfrm>
        </p:spPr>
        <p:txBody>
          <a:bodyPr/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TCP/IP protocols operate at the application, transport, and internet layers.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The most common network access layer LAN protocols are Ethernet and WLAN (wireless LAN).</a:t>
            </a:r>
          </a:p>
          <a:p>
            <a:pPr lvl="1" algn="l" rtl="0"/>
            <a:endParaRPr lang="en-CA" altLang="en-US" dirty="0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Protocol Suites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TCP/IP Protocol Example</a:t>
            </a:r>
            <a:endParaRPr lang="en-CA" alt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7244" y="509452"/>
            <a:ext cx="7474756" cy="6139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3332278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64765" y="1157263"/>
            <a:ext cx="5815120" cy="1145669"/>
          </a:xfrm>
        </p:spPr>
        <p:txBody>
          <a:bodyPr>
            <a:norm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A web server encapsulating and sending a web page to a client.</a:t>
            </a:r>
            <a:endParaRPr lang="en-CA" altLang="en-US" dirty="0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Protocol Suites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TCP/IP Communication Process</a:t>
            </a:r>
            <a:endParaRPr lang="en-CA" alt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212115" y="1157263"/>
            <a:ext cx="5815120" cy="1145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243840" bIns="6096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 client de-encapsulating the web page for the web browser</a:t>
            </a:r>
            <a:endParaRPr lang="en-US" altLang="en-US" sz="28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703024"/>
            <a:ext cx="5926904" cy="4168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905" y="2786742"/>
            <a:ext cx="6265095" cy="3862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0057947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22822" y="1093763"/>
            <a:ext cx="4479807" cy="5256237"/>
          </a:xfrm>
        </p:spPr>
        <p:txBody>
          <a:bodyPr>
            <a:normAutofit fontScale="62500" lnSpcReduction="20000"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sz="3400" dirty="0"/>
              <a:t>TCP/IP is the protocol suite used by the internet and includes many protocols.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3400" dirty="0"/>
              <a:t>TCP/IP is:</a:t>
            </a:r>
          </a:p>
          <a:p>
            <a:pPr lvl="1" algn="l" rtl="0"/>
            <a:r>
              <a:rPr lang="en-US" sz="4000" dirty="0"/>
              <a:t>An open standard protocol suite that is freely available to the public and can be used by any vendor</a:t>
            </a:r>
          </a:p>
          <a:p>
            <a:pPr lvl="1" algn="l" rtl="0"/>
            <a:r>
              <a:rPr lang="en-US" sz="4000" dirty="0"/>
              <a:t>A standards-based protocol suite that is </a:t>
            </a:r>
            <a:r>
              <a:rPr lang="en-US" sz="3400" dirty="0"/>
              <a:t>endorsed by the networking industry and approved by a standards organization to ensure interoperability </a:t>
            </a:r>
          </a:p>
          <a:p>
            <a:pPr lvl="1" algn="l" rtl="0"/>
            <a:endParaRPr lang="en-CA" altLang="en-US" sz="1600" dirty="0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Protocol Suites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TCP/IP Protocol Suite</a:t>
            </a:r>
            <a:endParaRPr lang="en-CA" alt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628" y="0"/>
            <a:ext cx="7489371" cy="685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7083810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5234" y="1220546"/>
            <a:ext cx="10975285" cy="2403188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3.5 Reference Models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8581944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7271133" y="1359041"/>
            <a:ext cx="4920868" cy="4430817"/>
          </a:xfrm>
        </p:spPr>
        <p:txBody>
          <a:bodyPr>
            <a:normAutofit fontScale="92500" lnSpcReduction="10000"/>
          </a:bodyPr>
          <a:lstStyle/>
          <a:p>
            <a:pPr marL="0" indent="0" algn="l" rtl="0">
              <a:buNone/>
            </a:pPr>
            <a:r>
              <a:rPr lang="en-US" dirty="0"/>
              <a:t>Complex concepts such as how a network operates can be difficult to explain and understand. For this reason, a layered model is used.</a:t>
            </a:r>
            <a:endParaRPr lang="en-CA" altLang="en-US" dirty="0"/>
          </a:p>
          <a:p>
            <a:pPr marL="0" indent="0" algn="l" rtl="0">
              <a:buNone/>
            </a:pPr>
            <a:r>
              <a:rPr lang="en-US" dirty="0"/>
              <a:t>Two layered models describe network operations: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Open System Interconnection (OSI) Reference Model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TCP/IP Reference Model</a:t>
            </a:r>
          </a:p>
          <a:p>
            <a:pPr lvl="1" algn="l" rtl="0"/>
            <a:endParaRPr lang="en-CA" altLang="en-US" dirty="0"/>
          </a:p>
          <a:p>
            <a:pPr lvl="1" algn="l" rtl="0"/>
            <a:endParaRPr lang="en-CA" altLang="en-US" dirty="0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Reference Models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The Benefits of Using a Layered Model</a:t>
            </a:r>
            <a:endParaRPr lang="en-CA" alt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64381"/>
            <a:ext cx="7022604" cy="5637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6232041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5234" y="1220546"/>
            <a:ext cx="10975285" cy="2403188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3.6 Data Encapsulation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8447441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6601840" y="430489"/>
            <a:ext cx="5590161" cy="5800980"/>
          </a:xfrm>
        </p:spPr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US" sz="2400" b="1" dirty="0"/>
              <a:t>Segmenting</a:t>
            </a:r>
            <a:r>
              <a:rPr lang="en-US" sz="2400" dirty="0"/>
              <a:t> is the process of breaking up messages into smaller units</a:t>
            </a:r>
            <a:r>
              <a:rPr lang="en-US" sz="2400" dirty="0" smtClean="0"/>
              <a:t>.</a:t>
            </a:r>
          </a:p>
          <a:p>
            <a:pPr marL="0" indent="0" algn="l" rtl="0">
              <a:buNone/>
            </a:pPr>
            <a:r>
              <a:rPr lang="en-US" sz="2400" b="1" dirty="0" smtClean="0"/>
              <a:t>Multiplexing</a:t>
            </a:r>
            <a:r>
              <a:rPr lang="en-US" sz="2400" dirty="0" smtClean="0"/>
              <a:t> </a:t>
            </a:r>
            <a:r>
              <a:rPr lang="en-US" sz="2400" dirty="0"/>
              <a:t>is the processes of taking multiple streams of segmented data and interleaving them together.</a:t>
            </a:r>
          </a:p>
          <a:p>
            <a:pPr marL="0" indent="0" algn="l" rtl="0">
              <a:buNone/>
            </a:pPr>
            <a:r>
              <a:rPr lang="en-US" sz="2400" dirty="0"/>
              <a:t>Segmenting messages has two primary benefits: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400" b="1" dirty="0"/>
              <a:t>Increases speed</a:t>
            </a:r>
            <a:r>
              <a:rPr lang="en-US" sz="2400" dirty="0"/>
              <a:t> - Large amounts of data can be sent over the network without tying up a communications link.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400" b="1" dirty="0"/>
              <a:t>Increases efficiency</a:t>
            </a:r>
            <a:r>
              <a:rPr lang="en-US" sz="2400" dirty="0"/>
              <a:t> - Only segments which fail to reach the destination need to be retransmitted, not the entire data stream</a:t>
            </a:r>
            <a:r>
              <a:rPr lang="en-US" sz="3200" dirty="0"/>
              <a:t>.</a:t>
            </a:r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16733" y="55191"/>
            <a:ext cx="6250201" cy="1010068"/>
          </a:xfrm>
        </p:spPr>
        <p:txBody>
          <a:bodyPr/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Data Encapsulation</a:t>
            </a:r>
            <a:b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Segmenting Messages</a:t>
            </a:r>
            <a:endParaRPr lang="en-CA" alt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67" y="1333894"/>
            <a:ext cx="6231467" cy="4716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7192562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6601840" y="1786338"/>
            <a:ext cx="5590161" cy="4194732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dirty="0"/>
              <a:t>Sequencing messages is the process of numbering the segments so that the message may be reassembled at the destination.</a:t>
            </a:r>
          </a:p>
          <a:p>
            <a:pPr marL="0" indent="0" algn="l" rtl="0">
              <a:buNone/>
            </a:pPr>
            <a:r>
              <a:rPr lang="en-US" dirty="0"/>
              <a:t>TCP is responsible for sequencing the individual segments.</a:t>
            </a:r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16732" y="55191"/>
            <a:ext cx="12192000" cy="1010068"/>
          </a:xfrm>
        </p:spPr>
        <p:txBody>
          <a:bodyPr/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Data Encapsulation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Sequencing</a:t>
            </a:r>
            <a:endParaRPr lang="en-CA" alt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89" y="1291247"/>
            <a:ext cx="6210905" cy="4689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0074585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7184571" y="635000"/>
            <a:ext cx="5014247" cy="6223000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sz="2400" b="1" dirty="0"/>
              <a:t>Encapsulation</a:t>
            </a:r>
            <a:r>
              <a:rPr lang="en-US" sz="2400" dirty="0"/>
              <a:t> is the process where protocols add their information to the data.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400" dirty="0"/>
              <a:t>At each stage of the process, a PDU has a different name to reflect its new functions. 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400" dirty="0" smtClean="0"/>
              <a:t>PDUs </a:t>
            </a:r>
            <a:r>
              <a:rPr lang="en-US" sz="2400" dirty="0"/>
              <a:t>passing down the stack are as follows:</a:t>
            </a:r>
          </a:p>
          <a:p>
            <a:pPr marL="647684" lvl="1" indent="-457189" algn="l" rtl="0">
              <a:buFont typeface="+mj-lt"/>
              <a:buAutoNum type="arabicPeriod"/>
            </a:pPr>
            <a:r>
              <a:rPr lang="en-US" dirty="0"/>
              <a:t>Data (Data Stream)</a:t>
            </a:r>
          </a:p>
          <a:p>
            <a:pPr marL="647684" lvl="1" indent="-457189" algn="l" rtl="0">
              <a:buFont typeface="+mj-lt"/>
              <a:buAutoNum type="arabicPeriod"/>
            </a:pPr>
            <a:r>
              <a:rPr lang="en-US" dirty="0"/>
              <a:t>Segment</a:t>
            </a:r>
          </a:p>
          <a:p>
            <a:pPr marL="647684" lvl="1" indent="-457189" algn="l" rtl="0">
              <a:buFont typeface="+mj-lt"/>
              <a:buAutoNum type="arabicPeriod"/>
            </a:pPr>
            <a:r>
              <a:rPr lang="en-US" dirty="0"/>
              <a:t>Packet</a:t>
            </a:r>
          </a:p>
          <a:p>
            <a:pPr marL="647684" lvl="1" indent="-457189" algn="l" rtl="0">
              <a:buFont typeface="+mj-lt"/>
              <a:buAutoNum type="arabicPeriod"/>
            </a:pPr>
            <a:r>
              <a:rPr lang="en-US" dirty="0"/>
              <a:t>Frame</a:t>
            </a:r>
          </a:p>
          <a:p>
            <a:pPr marL="647684" lvl="1" indent="-457189" algn="l" rtl="0">
              <a:buFont typeface="+mj-lt"/>
              <a:buAutoNum type="arabicPeriod"/>
            </a:pPr>
            <a:r>
              <a:rPr lang="en-US" dirty="0"/>
              <a:t>Bits (Bit Stream)</a:t>
            </a:r>
          </a:p>
          <a:p>
            <a:pPr algn="l" rtl="0"/>
            <a:endParaRPr lang="en-US" dirty="0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16733" y="55191"/>
            <a:ext cx="6385668" cy="1010068"/>
          </a:xfrm>
        </p:spPr>
        <p:txBody>
          <a:bodyPr/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Data Encapsulation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Protocol Data Units</a:t>
            </a:r>
            <a:endParaRPr lang="en-CA" alt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48" y="1251730"/>
            <a:ext cx="6976223" cy="5580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403338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64763" y="1117589"/>
            <a:ext cx="5661271" cy="5074205"/>
          </a:xfrm>
        </p:spPr>
        <p:txBody>
          <a:bodyPr>
            <a:no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sz="2400" dirty="0"/>
              <a:t>Data is de-encapsulated as it moves up the stack.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altLang="en-US" sz="2400" dirty="0"/>
              <a:t>When a layer completes its process, that layer strips off its header and passes it up to the next level to be processed. This is repeated at each layer until it is a data stream that the application can process.</a:t>
            </a:r>
          </a:p>
          <a:p>
            <a:pPr marL="647684" lvl="1" indent="-457189" algn="l" rtl="0">
              <a:buFont typeface="+mj-lt"/>
              <a:buAutoNum type="arabicPeriod"/>
            </a:pPr>
            <a:r>
              <a:rPr lang="en-US" altLang="en-US" dirty="0"/>
              <a:t>Received as Bits (Bit Stream)</a:t>
            </a:r>
          </a:p>
          <a:p>
            <a:pPr marL="647684" lvl="1" indent="-457189" algn="l" rtl="0">
              <a:buFont typeface="+mj-lt"/>
              <a:buAutoNum type="arabicPeriod"/>
            </a:pPr>
            <a:r>
              <a:rPr lang="en-US" altLang="en-US" dirty="0"/>
              <a:t>Frame</a:t>
            </a:r>
          </a:p>
          <a:p>
            <a:pPr marL="647684" lvl="1" indent="-457189" algn="l" rtl="0">
              <a:buFont typeface="+mj-lt"/>
              <a:buAutoNum type="arabicPeriod"/>
            </a:pPr>
            <a:r>
              <a:rPr lang="en-US" altLang="en-US" dirty="0"/>
              <a:t>Packet</a:t>
            </a:r>
          </a:p>
          <a:p>
            <a:pPr marL="647684" lvl="1" indent="-457189" algn="l" rtl="0">
              <a:buFont typeface="+mj-lt"/>
              <a:buAutoNum type="arabicPeriod"/>
            </a:pPr>
            <a:r>
              <a:rPr lang="en-US" altLang="en-US" dirty="0"/>
              <a:t>Segment</a:t>
            </a:r>
          </a:p>
          <a:p>
            <a:pPr marL="647684" lvl="1" indent="-457189" algn="l" rtl="0">
              <a:buFont typeface="+mj-lt"/>
              <a:buAutoNum type="arabicPeriod"/>
            </a:pPr>
            <a:r>
              <a:rPr lang="en-US" altLang="en-US" dirty="0"/>
              <a:t>Data (Data Stream)</a:t>
            </a:r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Data Encapsulation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De-encapsulation Example</a:t>
            </a:r>
            <a:endParaRPr lang="en-CA" alt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153" y="1065259"/>
            <a:ext cx="6548847" cy="5335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11033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5234" y="1220546"/>
            <a:ext cx="10975285" cy="2403188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3.7 Data Access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8943722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65739" y="992665"/>
            <a:ext cx="11260519" cy="2989391"/>
          </a:xfrm>
        </p:spPr>
        <p:txBody>
          <a:bodyPr>
            <a:normAutofit fontScale="92500" lnSpcReduction="20000"/>
          </a:bodyPr>
          <a:lstStyle/>
          <a:p>
            <a:pPr marL="0" indent="0" algn="l" rtl="0">
              <a:buNone/>
            </a:pPr>
            <a:r>
              <a:rPr lang="en-US" dirty="0"/>
              <a:t>Both the data link and network layers use addressing to deliver data from source to destination.</a:t>
            </a:r>
          </a:p>
          <a:p>
            <a:pPr marL="514350" indent="-514350" algn="l" rtl="0">
              <a:buFont typeface="+mj-lt"/>
              <a:buAutoNum type="arabicPeriod"/>
            </a:pPr>
            <a:r>
              <a:rPr lang="en-US" b="1" dirty="0"/>
              <a:t>Network layer source and destination addresses</a:t>
            </a:r>
            <a:r>
              <a:rPr lang="en-US" dirty="0"/>
              <a:t> - Responsible for delivering the IP packet from original source to the final destination. </a:t>
            </a:r>
          </a:p>
          <a:p>
            <a:pPr marL="514350" indent="-514350" algn="l" rtl="0">
              <a:buFont typeface="+mj-lt"/>
              <a:buAutoNum type="arabicPeriod"/>
            </a:pPr>
            <a:r>
              <a:rPr lang="en-US" b="1" dirty="0"/>
              <a:t>Data link layer source and destination addresses </a:t>
            </a:r>
            <a:r>
              <a:rPr lang="en-US" dirty="0"/>
              <a:t>– Responsible for delivering the data link frame from one network interface card (NIC) to another NIC on the same network.</a:t>
            </a:r>
          </a:p>
          <a:p>
            <a:pPr marL="0" indent="0" algn="l" rtl="0">
              <a:buNone/>
            </a:pPr>
            <a:endParaRPr lang="en-CA" altLang="en-US" dirty="0"/>
          </a:p>
          <a:p>
            <a:pPr algn="l" rtl="0"/>
            <a:endParaRPr lang="en-CA" altLang="en-US" dirty="0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Data Access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Addresses</a:t>
            </a:r>
            <a:endParaRPr lang="en-CA" alt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47" y="4246461"/>
            <a:ext cx="9105900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6706604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32668" y="1383993"/>
            <a:ext cx="5304963" cy="4610100"/>
          </a:xfrm>
        </p:spPr>
        <p:txBody>
          <a:bodyPr>
            <a:normAutofit fontScale="92500"/>
          </a:bodyPr>
          <a:lstStyle/>
          <a:p>
            <a:pPr marL="0" indent="0" algn="l" rtl="0">
              <a:buNone/>
            </a:pPr>
            <a:r>
              <a:rPr lang="en-US" dirty="0"/>
              <a:t>The IP packet contains two IP addresses:</a:t>
            </a:r>
          </a:p>
          <a:p>
            <a:pPr lvl="1" algn="l" rtl="0"/>
            <a:r>
              <a:rPr lang="en-US" sz="2800" b="1" dirty="0"/>
              <a:t>Source IP address</a:t>
            </a:r>
            <a:r>
              <a:rPr lang="en-US" sz="2800" dirty="0"/>
              <a:t> - The IP address of the sending device,  original source of the packet.</a:t>
            </a:r>
          </a:p>
          <a:p>
            <a:pPr lvl="1" algn="l" rtl="0"/>
            <a:r>
              <a:rPr lang="en-US" sz="2800" b="1" dirty="0"/>
              <a:t>Destination IP address</a:t>
            </a:r>
            <a:r>
              <a:rPr lang="en-US" sz="2800" dirty="0"/>
              <a:t> - The IP address of the receiving device, final destination of the packet.</a:t>
            </a:r>
          </a:p>
          <a:p>
            <a:pPr marL="0" indent="0" algn="l" rtl="0">
              <a:buNone/>
            </a:pPr>
            <a:r>
              <a:rPr lang="en-US" dirty="0"/>
              <a:t>These addresses may be on the same link or remote.</a:t>
            </a:r>
          </a:p>
          <a:p>
            <a:pPr algn="l" rtl="0"/>
            <a:endParaRPr lang="en-CA" altLang="en-US" dirty="0"/>
          </a:p>
          <a:p>
            <a:pPr marL="0" indent="0" algn="l" rtl="0">
              <a:buNone/>
            </a:pPr>
            <a:endParaRPr lang="en-CA" altLang="en-US" dirty="0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Data Access</a:t>
            </a:r>
            <a:b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en-US" sz="4400" b="1" dirty="0">
                <a:solidFill>
                  <a:schemeClr val="accent1">
                    <a:lumMod val="75000"/>
                  </a:schemeClr>
                </a:solidFill>
              </a:rPr>
              <a:t>Layer 3 Logical Address</a:t>
            </a:r>
            <a:endParaRPr lang="en-CA" altLang="en-US" sz="4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632" y="1065259"/>
            <a:ext cx="6507619" cy="567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2685336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33351" y="1181099"/>
            <a:ext cx="5737381" cy="5429021"/>
          </a:xfrm>
        </p:spPr>
        <p:txBody>
          <a:bodyPr>
            <a:normAutofit lnSpcReduction="10000"/>
          </a:bodyPr>
          <a:lstStyle/>
          <a:p>
            <a:pPr marL="0" indent="0" algn="l" rtl="0">
              <a:buNone/>
            </a:pPr>
            <a:r>
              <a:rPr lang="en-US" sz="2400" dirty="0"/>
              <a:t>An IP address contains two parts: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400" b="1" dirty="0"/>
              <a:t>Network portion (IPv4) or Prefix (IPv6)</a:t>
            </a:r>
            <a:r>
              <a:rPr lang="en-US" sz="2400" dirty="0"/>
              <a:t>  </a:t>
            </a:r>
          </a:p>
          <a:p>
            <a:pPr lvl="1" algn="l" rtl="0"/>
            <a:r>
              <a:rPr lang="en-US" dirty="0"/>
              <a:t>The left-most part of the address indicates the network group which the IP address is a member.</a:t>
            </a:r>
          </a:p>
          <a:p>
            <a:pPr lvl="1" algn="l" rtl="0"/>
            <a:r>
              <a:rPr lang="en-US" dirty="0"/>
              <a:t>Each LAN or WAN will have the same network portion.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400" b="1" dirty="0"/>
              <a:t>Host portion (IPv4) or Interface ID (IPv6)</a:t>
            </a:r>
            <a:r>
              <a:rPr lang="en-US" sz="2400" dirty="0"/>
              <a:t> </a:t>
            </a:r>
          </a:p>
          <a:p>
            <a:pPr lvl="1" algn="l" rtl="0"/>
            <a:r>
              <a:rPr lang="en-US" dirty="0"/>
              <a:t>The remaining part of the address identifies a specific device within the group. </a:t>
            </a:r>
          </a:p>
          <a:p>
            <a:pPr lvl="1" algn="l" rtl="0"/>
            <a:r>
              <a:rPr lang="en-US" dirty="0"/>
              <a:t>This portion is unique for each device on the network.</a:t>
            </a:r>
          </a:p>
          <a:p>
            <a:pPr algn="l" rtl="0"/>
            <a:endParaRPr lang="en-CA" altLang="en-US" dirty="0"/>
          </a:p>
          <a:p>
            <a:pPr marL="0" indent="0" algn="l" rtl="0">
              <a:buNone/>
            </a:pPr>
            <a:endParaRPr lang="en-CA" altLang="en-US" dirty="0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Data Access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4000" b="1" dirty="0">
                <a:solidFill>
                  <a:schemeClr val="accent1">
                    <a:lumMod val="75000"/>
                  </a:schemeClr>
                </a:solidFill>
              </a:rPr>
              <a:t>Layer 3 Logical Address (Cont.)</a:t>
            </a:r>
            <a:endParaRPr lang="en-CA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083" y="1181099"/>
            <a:ext cx="6187917" cy="5676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6906710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36208" y="1580083"/>
            <a:ext cx="5051889" cy="4580413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dirty="0"/>
              <a:t>When devices are on the same network the source and destination will have the same number in network portion of the address.</a:t>
            </a:r>
          </a:p>
          <a:p>
            <a:pPr lvl="1" algn="l" rtl="0"/>
            <a:r>
              <a:rPr lang="en-US" sz="2800" dirty="0"/>
              <a:t>PC1 – </a:t>
            </a:r>
            <a:r>
              <a:rPr lang="en-US" sz="2800" u="sng" dirty="0">
                <a:solidFill>
                  <a:schemeClr val="accent6"/>
                </a:solidFill>
              </a:rPr>
              <a:t>192.168.1</a:t>
            </a:r>
            <a:r>
              <a:rPr lang="en-US" sz="2800" dirty="0"/>
              <a:t>.110</a:t>
            </a:r>
          </a:p>
          <a:p>
            <a:pPr lvl="1" algn="l" rtl="0"/>
            <a:r>
              <a:rPr lang="en-US" sz="2800" dirty="0"/>
              <a:t>FTP Server – </a:t>
            </a:r>
            <a:r>
              <a:rPr lang="en-US" sz="2800" u="sng" dirty="0">
                <a:solidFill>
                  <a:schemeClr val="accent6"/>
                </a:solidFill>
              </a:rPr>
              <a:t>192.168.1</a:t>
            </a:r>
            <a:r>
              <a:rPr lang="en-US" sz="2800" dirty="0"/>
              <a:t>.9</a:t>
            </a:r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55191"/>
            <a:ext cx="12192000" cy="1093324"/>
          </a:xfrm>
        </p:spPr>
        <p:txBody>
          <a:bodyPr/>
          <a:lstStyle/>
          <a:p>
            <a:pPr algn="l" rtl="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Data Access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4000" b="1" dirty="0">
                <a:solidFill>
                  <a:schemeClr val="accent1">
                    <a:lumMod val="75000"/>
                  </a:schemeClr>
                </a:solidFill>
              </a:rPr>
              <a:t>Devices on the Same Network</a:t>
            </a:r>
            <a:endParaRPr lang="en-CA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943" y="1303324"/>
            <a:ext cx="7302137" cy="4857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787681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52402" y="1046917"/>
            <a:ext cx="5382031" cy="5201484"/>
          </a:xfrm>
        </p:spPr>
        <p:txBody>
          <a:bodyPr>
            <a:normAutofit fontScale="25000" lnSpcReduction="20000"/>
          </a:bodyPr>
          <a:lstStyle/>
          <a:p>
            <a:pPr marL="0" indent="0" algn="l" rtl="0">
              <a:buNone/>
            </a:pPr>
            <a:r>
              <a:rPr lang="en-US" sz="9600" dirty="0"/>
              <a:t>When the final destination is remote, Layer 3 will provide Layer 2 with the local default gateway IP address, also known as the router address.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9600" b="1" dirty="0"/>
              <a:t>The default gateway (DGW) </a:t>
            </a:r>
            <a:r>
              <a:rPr lang="en-US" sz="9600" dirty="0"/>
              <a:t>is the router interface IP address that is part of this LAN and will be the “door” or “gateway” to all other remote locations.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9600" dirty="0"/>
              <a:t>All devices on the LAN must be told about this address or their traffic will be confined to the LAN only. 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altLang="en-US" sz="9600" dirty="0"/>
              <a:t>Once Layer 2 on PC1 forwards to the default gateway (Router), the router then can start the routing process of getting the information to actual destination. </a:t>
            </a:r>
            <a:endParaRPr lang="en-CA" altLang="en-US" sz="9600" dirty="0"/>
          </a:p>
          <a:p>
            <a:pPr marL="0" indent="0" algn="l" rtl="0">
              <a:buNone/>
            </a:pPr>
            <a:endParaRPr lang="en-CA" altLang="en-US" dirty="0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55192"/>
            <a:ext cx="12192000" cy="991725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altLang="en-US" sz="2200" b="1" dirty="0">
                <a:solidFill>
                  <a:schemeClr val="accent1">
                    <a:lumMod val="75000"/>
                  </a:schemeClr>
                </a:solidFill>
              </a:rPr>
              <a:t>Data Access</a:t>
            </a:r>
            <a:br>
              <a:rPr lang="en-US" altLang="en-US" sz="22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en-US" sz="4000" b="1" dirty="0">
                <a:solidFill>
                  <a:schemeClr val="accent1">
                    <a:lumMod val="75000"/>
                  </a:schemeClr>
                </a:solidFill>
              </a:rPr>
              <a:t>Role of the Data Link Layer Addresses: Different IP Networks</a:t>
            </a:r>
            <a:endParaRPr lang="en-CA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433" y="1046917"/>
            <a:ext cx="6505167" cy="5654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7624428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52401" y="1487424"/>
            <a:ext cx="5246915" cy="4843603"/>
          </a:xfrm>
        </p:spPr>
        <p:txBody>
          <a:bodyPr>
            <a:normAutofit fontScale="77500" lnSpcReduction="20000"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altLang="en-US" sz="3300" b="1" dirty="0"/>
              <a:t>The data link addressing </a:t>
            </a:r>
            <a:r>
              <a:rPr lang="en-US" altLang="en-US" sz="3300" dirty="0"/>
              <a:t>is local addressing so it will have a source and destination for each link.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altLang="en-US" sz="3300" dirty="0"/>
              <a:t>The MAC addressing for the first segment is :</a:t>
            </a:r>
          </a:p>
          <a:p>
            <a:pPr lvl="1" algn="l" rtl="0"/>
            <a:r>
              <a:rPr lang="en-US" altLang="en-US" sz="3300" dirty="0"/>
              <a:t>Source –  AA-AA-AA-AA-AA-AA (PC1) Sends the frame.</a:t>
            </a:r>
          </a:p>
          <a:p>
            <a:pPr lvl="1" algn="l" rtl="0"/>
            <a:r>
              <a:rPr lang="en-US" altLang="en-US" sz="3300" dirty="0"/>
              <a:t>Destination – 11-11-11-11-11-11 (R1- Default Gateway MAC) Receives the frame</a:t>
            </a:r>
            <a:r>
              <a:rPr lang="en-US" altLang="en-US" sz="3300" dirty="0" smtClean="0"/>
              <a:t>.</a:t>
            </a:r>
            <a:endParaRPr lang="en-US" altLang="en-US" sz="3300" dirty="0"/>
          </a:p>
          <a:p>
            <a:pPr marL="0" indent="0" algn="l" rtl="0"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Note</a:t>
            </a:r>
            <a:r>
              <a:rPr lang="en-US" altLang="en-US" b="1" dirty="0"/>
              <a:t>: </a:t>
            </a:r>
            <a:r>
              <a:rPr lang="en-US" altLang="en-US" dirty="0"/>
              <a:t>While the L2 local addressing will change from link to link or hop to hop, the L3 addressing remains the same.</a:t>
            </a:r>
          </a:p>
          <a:p>
            <a:pPr algn="l" rtl="0"/>
            <a:endParaRPr lang="en-CA" altLang="en-US" dirty="0"/>
          </a:p>
          <a:p>
            <a:pPr marL="0" indent="0" algn="l" rtl="0">
              <a:buNone/>
            </a:pPr>
            <a:endParaRPr lang="en-CA" altLang="en-US" dirty="0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55191"/>
            <a:ext cx="12192000" cy="1327943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altLang="en-US" sz="2200" b="1" dirty="0">
                <a:solidFill>
                  <a:schemeClr val="accent1">
                    <a:lumMod val="75000"/>
                  </a:schemeClr>
                </a:solidFill>
              </a:rPr>
              <a:t>Data Access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3600" b="1" dirty="0">
                <a:solidFill>
                  <a:schemeClr val="accent1">
                    <a:lumMod val="75000"/>
                  </a:schemeClr>
                </a:solidFill>
              </a:rPr>
              <a:t>Role of the Data Link Layer Addresses: Different IP Networks (Cont.)</a:t>
            </a:r>
            <a:endParaRPr lang="en-CA" alt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316" y="1166035"/>
            <a:ext cx="6697730" cy="569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5211900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2027846" y="759882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Thanks for U</a:t>
            </a:r>
            <a:endParaRPr lang="ar-SA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Graphic 64">
            <a:extLst>
              <a:ext uri="{FF2B5EF4-FFF2-40B4-BE49-F238E27FC236}">
                <a16:creationId xmlns:a16="http://schemas.microsoft.com/office/drawing/2014/main" id="{E52FF5FF-CF8B-DB46-8651-396D385F62FB}"/>
              </a:ext>
            </a:extLst>
          </p:cNvPr>
          <p:cNvGrpSpPr/>
          <p:nvPr/>
        </p:nvGrpSpPr>
        <p:grpSpPr>
          <a:xfrm>
            <a:off x="511454" y="2051973"/>
            <a:ext cx="2565022" cy="3868750"/>
            <a:chOff x="674" y="1276499"/>
            <a:chExt cx="2565022" cy="3868750"/>
          </a:xfrm>
        </p:grpSpPr>
        <p:sp>
          <p:nvSpPr>
            <p:cNvPr id="5" name="Freeform: Shape 22">
              <a:extLst>
                <a:ext uri="{FF2B5EF4-FFF2-40B4-BE49-F238E27FC236}">
                  <a16:creationId xmlns:a16="http://schemas.microsoft.com/office/drawing/2014/main" id="{A107F5A8-AB7D-6847-9632-A30A4BAEF824}"/>
                </a:ext>
              </a:extLst>
            </p:cNvPr>
            <p:cNvSpPr/>
            <p:nvPr/>
          </p:nvSpPr>
          <p:spPr>
            <a:xfrm>
              <a:off x="674" y="3004273"/>
              <a:ext cx="2206689" cy="2140976"/>
            </a:xfrm>
            <a:custGeom>
              <a:avLst/>
              <a:gdLst>
                <a:gd name="connsiteX0" fmla="*/ 1146903 w 2206689"/>
                <a:gd name="connsiteY0" fmla="*/ 116953 h 2140976"/>
                <a:gd name="connsiteX1" fmla="*/ 852929 w 2206689"/>
                <a:gd name="connsiteY1" fmla="*/ 891679 h 2140976"/>
                <a:gd name="connsiteX2" fmla="*/ 1285125 w 2206689"/>
                <a:gd name="connsiteY2" fmla="*/ 1281747 h 2140976"/>
                <a:gd name="connsiteX3" fmla="*/ 1910157 w 2206689"/>
                <a:gd name="connsiteY3" fmla="*/ 1455486 h 2140976"/>
                <a:gd name="connsiteX4" fmla="*/ 1867004 w 2206689"/>
                <a:gd name="connsiteY4" fmla="*/ 1830004 h 2140976"/>
                <a:gd name="connsiteX5" fmla="*/ 2201434 w 2206689"/>
                <a:gd name="connsiteY5" fmla="*/ 2140977 h 2140976"/>
                <a:gd name="connsiteX6" fmla="*/ 0 w 2206689"/>
                <a:gd name="connsiteY6" fmla="*/ 2140977 h 2140976"/>
                <a:gd name="connsiteX7" fmla="*/ 0 w 2206689"/>
                <a:gd name="connsiteY7" fmla="*/ 560426 h 2140976"/>
                <a:gd name="connsiteX8" fmla="*/ 224526 w 2206689"/>
                <a:gd name="connsiteY8" fmla="*/ 883567 h 2140976"/>
                <a:gd name="connsiteX9" fmla="*/ 527265 w 2206689"/>
                <a:gd name="connsiteY9" fmla="*/ 784867 h 2140976"/>
                <a:gd name="connsiteX10" fmla="*/ 1024189 w 2206689"/>
                <a:gd name="connsiteY10" fmla="*/ 0 h 2140976"/>
                <a:gd name="connsiteX11" fmla="*/ 1146903 w 2206689"/>
                <a:gd name="connsiteY11" fmla="*/ 116953 h 2140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06689" h="2140976">
                  <a:moveTo>
                    <a:pt x="1146903" y="116953"/>
                  </a:moveTo>
                  <a:cubicBezTo>
                    <a:pt x="1146903" y="116953"/>
                    <a:pt x="880573" y="749714"/>
                    <a:pt x="852929" y="891679"/>
                  </a:cubicBezTo>
                  <a:cubicBezTo>
                    <a:pt x="990477" y="797036"/>
                    <a:pt x="1418627" y="820696"/>
                    <a:pt x="1285125" y="1281747"/>
                  </a:cubicBezTo>
                  <a:cubicBezTo>
                    <a:pt x="1595955" y="1175611"/>
                    <a:pt x="1854868" y="1246593"/>
                    <a:pt x="1910157" y="1455486"/>
                  </a:cubicBezTo>
                  <a:cubicBezTo>
                    <a:pt x="1965445" y="1664378"/>
                    <a:pt x="1867004" y="1830004"/>
                    <a:pt x="1867004" y="1830004"/>
                  </a:cubicBezTo>
                  <a:cubicBezTo>
                    <a:pt x="1867004" y="1830004"/>
                    <a:pt x="2256048" y="1777950"/>
                    <a:pt x="2201434" y="2140977"/>
                  </a:cubicBezTo>
                  <a:cubicBezTo>
                    <a:pt x="1741594" y="2140977"/>
                    <a:pt x="0" y="2140977"/>
                    <a:pt x="0" y="2140977"/>
                  </a:cubicBezTo>
                  <a:lnTo>
                    <a:pt x="0" y="560426"/>
                  </a:lnTo>
                  <a:cubicBezTo>
                    <a:pt x="0" y="560426"/>
                    <a:pt x="224526" y="592200"/>
                    <a:pt x="224526" y="883567"/>
                  </a:cubicBezTo>
                  <a:cubicBezTo>
                    <a:pt x="330384" y="713884"/>
                    <a:pt x="527265" y="784867"/>
                    <a:pt x="527265" y="784867"/>
                  </a:cubicBezTo>
                  <a:lnTo>
                    <a:pt x="1024189" y="0"/>
                  </a:lnTo>
                  <a:lnTo>
                    <a:pt x="1146903" y="116953"/>
                  </a:lnTo>
                  <a:close/>
                </a:path>
              </a:pathLst>
            </a:custGeom>
            <a:solidFill>
              <a:schemeClr val="bg1"/>
            </a:solidFill>
            <a:ln w="67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grpSp>
          <p:nvGrpSpPr>
            <p:cNvPr id="6" name="Graphic 64">
              <a:extLst>
                <a:ext uri="{FF2B5EF4-FFF2-40B4-BE49-F238E27FC236}">
                  <a16:creationId xmlns:a16="http://schemas.microsoft.com/office/drawing/2014/main" id="{45E452A4-D284-0447-B632-178F25912F5C}"/>
                </a:ext>
              </a:extLst>
            </p:cNvPr>
            <p:cNvGrpSpPr/>
            <p:nvPr/>
          </p:nvGrpSpPr>
          <p:grpSpPr>
            <a:xfrm>
              <a:off x="548037" y="1276499"/>
              <a:ext cx="1596499" cy="2125622"/>
              <a:chOff x="548037" y="1276499"/>
              <a:chExt cx="1596499" cy="2125622"/>
            </a:xfrm>
          </p:grpSpPr>
          <p:sp>
            <p:nvSpPr>
              <p:cNvPr id="12" name="Freeform: Shape 24">
                <a:extLst>
                  <a:ext uri="{FF2B5EF4-FFF2-40B4-BE49-F238E27FC236}">
                    <a16:creationId xmlns:a16="http://schemas.microsoft.com/office/drawing/2014/main" id="{65BBF948-F460-7C48-8C9F-E654766EED0B}"/>
                  </a:ext>
                </a:extLst>
              </p:cNvPr>
              <p:cNvSpPr/>
              <p:nvPr/>
            </p:nvSpPr>
            <p:spPr>
              <a:xfrm>
                <a:off x="548037" y="2130170"/>
                <a:ext cx="554364" cy="747870"/>
              </a:xfrm>
              <a:custGeom>
                <a:avLst/>
                <a:gdLst>
                  <a:gd name="connsiteX0" fmla="*/ 554365 w 554364"/>
                  <a:gd name="connsiteY0" fmla="*/ 0 h 747870"/>
                  <a:gd name="connsiteX1" fmla="*/ 121495 w 554364"/>
                  <a:gd name="connsiteY1" fmla="*/ 417108 h 747870"/>
                  <a:gd name="connsiteX2" fmla="*/ 803 w 554364"/>
                  <a:gd name="connsiteY2" fmla="*/ 715236 h 747870"/>
                  <a:gd name="connsiteX3" fmla="*/ 43956 w 554364"/>
                  <a:gd name="connsiteY3" fmla="*/ 741601 h 747870"/>
                  <a:gd name="connsiteX4" fmla="*/ 370294 w 554364"/>
                  <a:gd name="connsiteY4" fmla="*/ 555018 h 747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4364" h="747870">
                    <a:moveTo>
                      <a:pt x="554365" y="0"/>
                    </a:moveTo>
                    <a:cubicBezTo>
                      <a:pt x="379733" y="93292"/>
                      <a:pt x="228701" y="233905"/>
                      <a:pt x="121495" y="417108"/>
                    </a:cubicBezTo>
                    <a:cubicBezTo>
                      <a:pt x="65532" y="512428"/>
                      <a:pt x="25751" y="613156"/>
                      <a:pt x="803" y="715236"/>
                    </a:cubicBezTo>
                    <a:cubicBezTo>
                      <a:pt x="-5265" y="740249"/>
                      <a:pt x="24402" y="757826"/>
                      <a:pt x="43956" y="741601"/>
                    </a:cubicBezTo>
                    <a:cubicBezTo>
                      <a:pt x="139699" y="660478"/>
                      <a:pt x="248928" y="594228"/>
                      <a:pt x="370294" y="555018"/>
                    </a:cubicBezTo>
                  </a:path>
                </a:pathLst>
              </a:custGeom>
              <a:solidFill>
                <a:srgbClr val="531588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3" name="Freeform: Shape 25">
                <a:extLst>
                  <a:ext uri="{FF2B5EF4-FFF2-40B4-BE49-F238E27FC236}">
                    <a16:creationId xmlns:a16="http://schemas.microsoft.com/office/drawing/2014/main" id="{FCEA1EBA-4DA5-DD4B-B53E-14A7D04D0915}"/>
                  </a:ext>
                </a:extLst>
              </p:cNvPr>
              <p:cNvSpPr/>
              <p:nvPr/>
            </p:nvSpPr>
            <p:spPr>
              <a:xfrm>
                <a:off x="1440375" y="2592573"/>
                <a:ext cx="396287" cy="809548"/>
              </a:xfrm>
              <a:custGeom>
                <a:avLst/>
                <a:gdLst>
                  <a:gd name="connsiteX0" fmla="*/ 396288 w 396287"/>
                  <a:gd name="connsiteY0" fmla="*/ 0 h 809548"/>
                  <a:gd name="connsiteX1" fmla="*/ 244581 w 396287"/>
                  <a:gd name="connsiteY1" fmla="*/ 551638 h 809548"/>
                  <a:gd name="connsiteX2" fmla="*/ 44328 w 396287"/>
                  <a:gd name="connsiteY2" fmla="*/ 802444 h 809548"/>
                  <a:gd name="connsiteX3" fmla="*/ 502 w 396287"/>
                  <a:gd name="connsiteY3" fmla="*/ 777431 h 809548"/>
                  <a:gd name="connsiteX4" fmla="*/ 3199 w 396287"/>
                  <a:gd name="connsiteY4" fmla="*/ 400884 h 809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6287" h="809548">
                    <a:moveTo>
                      <a:pt x="396288" y="0"/>
                    </a:moveTo>
                    <a:cubicBezTo>
                      <a:pt x="394939" y="187935"/>
                      <a:pt x="345719" y="377899"/>
                      <a:pt x="244581" y="551638"/>
                    </a:cubicBezTo>
                    <a:cubicBezTo>
                      <a:pt x="188618" y="646958"/>
                      <a:pt x="121193" y="730785"/>
                      <a:pt x="44328" y="802444"/>
                    </a:cubicBezTo>
                    <a:cubicBezTo>
                      <a:pt x="25449" y="820020"/>
                      <a:pt x="-4218" y="802444"/>
                      <a:pt x="502" y="777431"/>
                    </a:cubicBezTo>
                    <a:cubicBezTo>
                      <a:pt x="24100" y="654394"/>
                      <a:pt x="28146" y="525949"/>
                      <a:pt x="3199" y="400884"/>
                    </a:cubicBezTo>
                  </a:path>
                </a:pathLst>
              </a:custGeom>
              <a:solidFill>
                <a:srgbClr val="531588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4" name="Freeform: Shape 26">
                <a:extLst>
                  <a:ext uri="{FF2B5EF4-FFF2-40B4-BE49-F238E27FC236}">
                    <a16:creationId xmlns:a16="http://schemas.microsoft.com/office/drawing/2014/main" id="{AC4106D2-8B71-1F4F-AF40-1A2E59874210}"/>
                  </a:ext>
                </a:extLst>
              </p:cNvPr>
              <p:cNvSpPr/>
              <p:nvPr/>
            </p:nvSpPr>
            <p:spPr>
              <a:xfrm>
                <a:off x="898589" y="1276499"/>
                <a:ext cx="1245947" cy="1861267"/>
              </a:xfrm>
              <a:custGeom>
                <a:avLst/>
                <a:gdLst>
                  <a:gd name="connsiteX0" fmla="*/ 1220586 w 1245947"/>
                  <a:gd name="connsiteY0" fmla="*/ 27567 h 1861267"/>
                  <a:gd name="connsiteX1" fmla="*/ 1176759 w 1245947"/>
                  <a:gd name="connsiteY1" fmla="*/ 1878 h 1861267"/>
                  <a:gd name="connsiteX2" fmla="*/ 244943 w 1245947"/>
                  <a:gd name="connsiteY2" fmla="*/ 779308 h 1861267"/>
                  <a:gd name="connsiteX3" fmla="*/ 189 w 1245947"/>
                  <a:gd name="connsiteY3" fmla="*/ 1597301 h 1861267"/>
                  <a:gd name="connsiteX4" fmla="*/ 69637 w 1245947"/>
                  <a:gd name="connsiteY4" fmla="*/ 1739942 h 1861267"/>
                  <a:gd name="connsiteX5" fmla="*/ 156616 w 1245947"/>
                  <a:gd name="connsiteY5" fmla="*/ 1796729 h 1861267"/>
                  <a:gd name="connsiteX6" fmla="*/ 248314 w 1245947"/>
                  <a:gd name="connsiteY6" fmla="*/ 1845403 h 1861267"/>
                  <a:gd name="connsiteX7" fmla="*/ 406763 w 1245947"/>
                  <a:gd name="connsiteY7" fmla="*/ 1836614 h 1861267"/>
                  <a:gd name="connsiteX8" fmla="*/ 998757 w 1245947"/>
                  <a:gd name="connsiteY8" fmla="*/ 1222782 h 1861267"/>
                  <a:gd name="connsiteX9" fmla="*/ 1220586 w 1245947"/>
                  <a:gd name="connsiteY9" fmla="*/ 27567 h 1861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45947" h="1861267">
                    <a:moveTo>
                      <a:pt x="1220586" y="27567"/>
                    </a:moveTo>
                    <a:cubicBezTo>
                      <a:pt x="1217214" y="7286"/>
                      <a:pt x="1196313" y="-4883"/>
                      <a:pt x="1176759" y="1878"/>
                    </a:cubicBezTo>
                    <a:cubicBezTo>
                      <a:pt x="803224" y="133027"/>
                      <a:pt x="466772" y="400057"/>
                      <a:pt x="244943" y="779308"/>
                    </a:cubicBezTo>
                    <a:cubicBezTo>
                      <a:pt x="93236" y="1038903"/>
                      <a:pt x="13674" y="1320130"/>
                      <a:pt x="189" y="1597301"/>
                    </a:cubicBezTo>
                    <a:cubicBezTo>
                      <a:pt x="-2508" y="1653411"/>
                      <a:pt x="23788" y="1706817"/>
                      <a:pt x="69637" y="1739942"/>
                    </a:cubicBezTo>
                    <a:cubicBezTo>
                      <a:pt x="97281" y="1760223"/>
                      <a:pt x="126274" y="1779152"/>
                      <a:pt x="156616" y="1796729"/>
                    </a:cubicBezTo>
                    <a:cubicBezTo>
                      <a:pt x="186957" y="1814305"/>
                      <a:pt x="217298" y="1830530"/>
                      <a:pt x="248314" y="1845403"/>
                    </a:cubicBezTo>
                    <a:cubicBezTo>
                      <a:pt x="299557" y="1869064"/>
                      <a:pt x="358891" y="1866360"/>
                      <a:pt x="406763" y="1836614"/>
                    </a:cubicBezTo>
                    <a:cubicBezTo>
                      <a:pt x="641403" y="1689916"/>
                      <a:pt x="847050" y="1483052"/>
                      <a:pt x="998757" y="1222782"/>
                    </a:cubicBezTo>
                    <a:cubicBezTo>
                      <a:pt x="1221260" y="842855"/>
                      <a:pt x="1288685" y="418310"/>
                      <a:pt x="1220586" y="27567"/>
                    </a:cubicBezTo>
                    <a:close/>
                  </a:path>
                </a:pathLst>
              </a:custGeom>
              <a:solidFill>
                <a:schemeClr val="bg1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5" name="Freeform: Shape 27">
                <a:extLst>
                  <a:ext uri="{FF2B5EF4-FFF2-40B4-BE49-F238E27FC236}">
                    <a16:creationId xmlns:a16="http://schemas.microsoft.com/office/drawing/2014/main" id="{08760248-D7DC-8B49-B585-DF240BF43437}"/>
                  </a:ext>
                </a:extLst>
              </p:cNvPr>
              <p:cNvSpPr/>
              <p:nvPr/>
            </p:nvSpPr>
            <p:spPr>
              <a:xfrm>
                <a:off x="1755078" y="1276499"/>
                <a:ext cx="389380" cy="381804"/>
              </a:xfrm>
              <a:custGeom>
                <a:avLst/>
                <a:gdLst>
                  <a:gd name="connsiteX0" fmla="*/ 0 w 389380"/>
                  <a:gd name="connsiteY0" fmla="*/ 153308 h 381804"/>
                  <a:gd name="connsiteX1" fmla="*/ 167215 w 389380"/>
                  <a:gd name="connsiteY1" fmla="*/ 313526 h 381804"/>
                  <a:gd name="connsiteX2" fmla="*/ 388369 w 389380"/>
                  <a:gd name="connsiteY2" fmla="*/ 381805 h 381804"/>
                  <a:gd name="connsiteX3" fmla="*/ 364096 w 389380"/>
                  <a:gd name="connsiteY3" fmla="*/ 27567 h 381804"/>
                  <a:gd name="connsiteX4" fmla="*/ 320270 w 389380"/>
                  <a:gd name="connsiteY4" fmla="*/ 1878 h 381804"/>
                  <a:gd name="connsiteX5" fmla="*/ 0 w 389380"/>
                  <a:gd name="connsiteY5" fmla="*/ 153308 h 381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9380" h="381804">
                    <a:moveTo>
                      <a:pt x="0" y="153308"/>
                    </a:moveTo>
                    <a:cubicBezTo>
                      <a:pt x="41129" y="216854"/>
                      <a:pt x="97092" y="272288"/>
                      <a:pt x="167215" y="313526"/>
                    </a:cubicBezTo>
                    <a:cubicBezTo>
                      <a:pt x="237337" y="354764"/>
                      <a:pt x="312853" y="376396"/>
                      <a:pt x="388369" y="381805"/>
                    </a:cubicBezTo>
                    <a:cubicBezTo>
                      <a:pt x="392415" y="262148"/>
                      <a:pt x="384324" y="143843"/>
                      <a:pt x="364096" y="27567"/>
                    </a:cubicBezTo>
                    <a:cubicBezTo>
                      <a:pt x="360725" y="7286"/>
                      <a:pt x="339823" y="-4883"/>
                      <a:pt x="320270" y="1878"/>
                    </a:cubicBezTo>
                    <a:cubicBezTo>
                      <a:pt x="209692" y="40411"/>
                      <a:pt x="102486" y="91789"/>
                      <a:pt x="0" y="153308"/>
                    </a:cubicBezTo>
                    <a:close/>
                  </a:path>
                </a:pathLst>
              </a:custGeom>
              <a:solidFill>
                <a:srgbClr val="531588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6" name="Freeform: Shape 28">
                <a:extLst>
                  <a:ext uri="{FF2B5EF4-FFF2-40B4-BE49-F238E27FC236}">
                    <a16:creationId xmlns:a16="http://schemas.microsoft.com/office/drawing/2014/main" id="{6F9AAD8A-16AB-5846-B71D-BE1BCD0E5495}"/>
                  </a:ext>
                </a:extLst>
              </p:cNvPr>
              <p:cNvSpPr/>
              <p:nvPr/>
            </p:nvSpPr>
            <p:spPr>
              <a:xfrm>
                <a:off x="1434134" y="1896265"/>
                <a:ext cx="377581" cy="378574"/>
              </a:xfrm>
              <a:custGeom>
                <a:avLst/>
                <a:gdLst>
                  <a:gd name="connsiteX0" fmla="*/ 377581 w 377581"/>
                  <a:gd name="connsiteY0" fmla="*/ 189287 h 378574"/>
                  <a:gd name="connsiteX1" fmla="*/ 188791 w 377581"/>
                  <a:gd name="connsiteY1" fmla="*/ 378575 h 378574"/>
                  <a:gd name="connsiteX2" fmla="*/ 0 w 377581"/>
                  <a:gd name="connsiteY2" fmla="*/ 189287 h 378574"/>
                  <a:gd name="connsiteX3" fmla="*/ 188791 w 377581"/>
                  <a:gd name="connsiteY3" fmla="*/ 0 h 378574"/>
                  <a:gd name="connsiteX4" fmla="*/ 377581 w 377581"/>
                  <a:gd name="connsiteY4" fmla="*/ 189287 h 378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581" h="378574">
                    <a:moveTo>
                      <a:pt x="377581" y="189287"/>
                    </a:moveTo>
                    <a:cubicBezTo>
                      <a:pt x="377581" y="293828"/>
                      <a:pt x="293057" y="378575"/>
                      <a:pt x="188791" y="378575"/>
                    </a:cubicBezTo>
                    <a:cubicBezTo>
                      <a:pt x="84525" y="378575"/>
                      <a:pt x="0" y="293828"/>
                      <a:pt x="0" y="189287"/>
                    </a:cubicBezTo>
                    <a:cubicBezTo>
                      <a:pt x="0" y="84747"/>
                      <a:pt x="84525" y="0"/>
                      <a:pt x="188791" y="0"/>
                    </a:cubicBezTo>
                    <a:cubicBezTo>
                      <a:pt x="293057" y="0"/>
                      <a:pt x="377581" y="84747"/>
                      <a:pt x="377581" y="189287"/>
                    </a:cubicBezTo>
                    <a:close/>
                  </a:path>
                </a:pathLst>
              </a:custGeom>
              <a:solidFill>
                <a:srgbClr val="531588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7" name="Freeform: Shape 29">
                <a:extLst>
                  <a:ext uri="{FF2B5EF4-FFF2-40B4-BE49-F238E27FC236}">
                    <a16:creationId xmlns:a16="http://schemas.microsoft.com/office/drawing/2014/main" id="{36319275-37EF-D841-9D84-068F687FE4AA}"/>
                  </a:ext>
                </a:extLst>
              </p:cNvPr>
              <p:cNvSpPr/>
              <p:nvPr/>
            </p:nvSpPr>
            <p:spPr>
              <a:xfrm>
                <a:off x="1476612" y="1938855"/>
                <a:ext cx="292625" cy="293395"/>
              </a:xfrm>
              <a:custGeom>
                <a:avLst/>
                <a:gdLst>
                  <a:gd name="connsiteX0" fmla="*/ 292625 w 292625"/>
                  <a:gd name="connsiteY0" fmla="*/ 146698 h 293395"/>
                  <a:gd name="connsiteX1" fmla="*/ 146313 w 292625"/>
                  <a:gd name="connsiteY1" fmla="*/ 293396 h 293395"/>
                  <a:gd name="connsiteX2" fmla="*/ 0 w 292625"/>
                  <a:gd name="connsiteY2" fmla="*/ 146698 h 293395"/>
                  <a:gd name="connsiteX3" fmla="*/ 146313 w 292625"/>
                  <a:gd name="connsiteY3" fmla="*/ 0 h 293395"/>
                  <a:gd name="connsiteX4" fmla="*/ 292625 w 292625"/>
                  <a:gd name="connsiteY4" fmla="*/ 146698 h 293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625" h="293395">
                    <a:moveTo>
                      <a:pt x="292625" y="146698"/>
                    </a:moveTo>
                    <a:cubicBezTo>
                      <a:pt x="292625" y="227717"/>
                      <a:pt x="227119" y="293396"/>
                      <a:pt x="146313" y="293396"/>
                    </a:cubicBezTo>
                    <a:cubicBezTo>
                      <a:pt x="65506" y="293396"/>
                      <a:pt x="0" y="227717"/>
                      <a:pt x="0" y="146698"/>
                    </a:cubicBezTo>
                    <a:cubicBezTo>
                      <a:pt x="0" y="65679"/>
                      <a:pt x="65506" y="0"/>
                      <a:pt x="146313" y="0"/>
                    </a:cubicBezTo>
                    <a:cubicBezTo>
                      <a:pt x="227119" y="0"/>
                      <a:pt x="292625" y="65679"/>
                      <a:pt x="292625" y="146698"/>
                    </a:cubicBezTo>
                    <a:close/>
                  </a:path>
                </a:pathLst>
              </a:custGeom>
              <a:solidFill>
                <a:srgbClr val="E5E2F2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8" name="Freeform: Shape 30">
                <a:extLst>
                  <a:ext uri="{FF2B5EF4-FFF2-40B4-BE49-F238E27FC236}">
                    <a16:creationId xmlns:a16="http://schemas.microsoft.com/office/drawing/2014/main" id="{1D66BC3A-1B39-624A-A3E0-315FEEEE0027}"/>
                  </a:ext>
                </a:extLst>
              </p:cNvPr>
              <p:cNvSpPr/>
              <p:nvPr/>
            </p:nvSpPr>
            <p:spPr>
              <a:xfrm>
                <a:off x="1709903" y="1690753"/>
                <a:ext cx="180699" cy="181175"/>
              </a:xfrm>
              <a:custGeom>
                <a:avLst/>
                <a:gdLst>
                  <a:gd name="connsiteX0" fmla="*/ 180700 w 180699"/>
                  <a:gd name="connsiteY0" fmla="*/ 90588 h 181175"/>
                  <a:gd name="connsiteX1" fmla="*/ 90350 w 180699"/>
                  <a:gd name="connsiteY1" fmla="*/ 181175 h 181175"/>
                  <a:gd name="connsiteX2" fmla="*/ 0 w 180699"/>
                  <a:gd name="connsiteY2" fmla="*/ 90588 h 181175"/>
                  <a:gd name="connsiteX3" fmla="*/ 90350 w 180699"/>
                  <a:gd name="connsiteY3" fmla="*/ 0 h 181175"/>
                  <a:gd name="connsiteX4" fmla="*/ 180700 w 180699"/>
                  <a:gd name="connsiteY4" fmla="*/ 90588 h 181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699" h="181175">
                    <a:moveTo>
                      <a:pt x="180700" y="90588"/>
                    </a:moveTo>
                    <a:cubicBezTo>
                      <a:pt x="180700" y="140618"/>
                      <a:pt x="140249" y="181175"/>
                      <a:pt x="90350" y="181175"/>
                    </a:cubicBezTo>
                    <a:cubicBezTo>
                      <a:pt x="40451" y="181175"/>
                      <a:pt x="0" y="140618"/>
                      <a:pt x="0" y="90588"/>
                    </a:cubicBezTo>
                    <a:cubicBezTo>
                      <a:pt x="0" y="40557"/>
                      <a:pt x="40451" y="0"/>
                      <a:pt x="90350" y="0"/>
                    </a:cubicBezTo>
                    <a:cubicBezTo>
                      <a:pt x="140249" y="0"/>
                      <a:pt x="180700" y="40557"/>
                      <a:pt x="180700" y="90588"/>
                    </a:cubicBezTo>
                    <a:close/>
                  </a:path>
                </a:pathLst>
              </a:custGeom>
              <a:solidFill>
                <a:srgbClr val="531588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19" name="Freeform: Shape 31">
                <a:extLst>
                  <a:ext uri="{FF2B5EF4-FFF2-40B4-BE49-F238E27FC236}">
                    <a16:creationId xmlns:a16="http://schemas.microsoft.com/office/drawing/2014/main" id="{025521E7-0B95-624F-A8E1-0A0D8647586F}"/>
                  </a:ext>
                </a:extLst>
              </p:cNvPr>
              <p:cNvSpPr/>
              <p:nvPr/>
            </p:nvSpPr>
            <p:spPr>
              <a:xfrm>
                <a:off x="1742267" y="1723202"/>
                <a:ext cx="115971" cy="116276"/>
              </a:xfrm>
              <a:custGeom>
                <a:avLst/>
                <a:gdLst>
                  <a:gd name="connsiteX0" fmla="*/ 115971 w 115971"/>
                  <a:gd name="connsiteY0" fmla="*/ 58138 h 116276"/>
                  <a:gd name="connsiteX1" fmla="*/ 57986 w 115971"/>
                  <a:gd name="connsiteY1" fmla="*/ 116277 h 116276"/>
                  <a:gd name="connsiteX2" fmla="*/ 0 w 115971"/>
                  <a:gd name="connsiteY2" fmla="*/ 58138 h 116276"/>
                  <a:gd name="connsiteX3" fmla="*/ 57986 w 115971"/>
                  <a:gd name="connsiteY3" fmla="*/ 0 h 116276"/>
                  <a:gd name="connsiteX4" fmla="*/ 115971 w 115971"/>
                  <a:gd name="connsiteY4" fmla="*/ 58138 h 116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971" h="116276">
                    <a:moveTo>
                      <a:pt x="115971" y="58138"/>
                    </a:moveTo>
                    <a:cubicBezTo>
                      <a:pt x="115971" y="90247"/>
                      <a:pt x="90010" y="116277"/>
                      <a:pt x="57986" y="116277"/>
                    </a:cubicBezTo>
                    <a:cubicBezTo>
                      <a:pt x="25961" y="116277"/>
                      <a:pt x="0" y="90247"/>
                      <a:pt x="0" y="58138"/>
                    </a:cubicBezTo>
                    <a:cubicBezTo>
                      <a:pt x="0" y="26029"/>
                      <a:pt x="25961" y="0"/>
                      <a:pt x="57986" y="0"/>
                    </a:cubicBezTo>
                    <a:cubicBezTo>
                      <a:pt x="90010" y="0"/>
                      <a:pt x="115971" y="26029"/>
                      <a:pt x="115971" y="58138"/>
                    </a:cubicBezTo>
                    <a:close/>
                  </a:path>
                </a:pathLst>
              </a:custGeom>
              <a:solidFill>
                <a:srgbClr val="E5E2F2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20" name="Freeform: Shape 32">
                <a:extLst>
                  <a:ext uri="{FF2B5EF4-FFF2-40B4-BE49-F238E27FC236}">
                    <a16:creationId xmlns:a16="http://schemas.microsoft.com/office/drawing/2014/main" id="{D5558A36-872F-BE49-A7A1-21677D4C5189}"/>
                  </a:ext>
                </a:extLst>
              </p:cNvPr>
              <p:cNvSpPr/>
              <p:nvPr/>
            </p:nvSpPr>
            <p:spPr>
              <a:xfrm>
                <a:off x="973508" y="2394057"/>
                <a:ext cx="508452" cy="801638"/>
              </a:xfrm>
              <a:custGeom>
                <a:avLst/>
                <a:gdLst>
                  <a:gd name="connsiteX0" fmla="*/ 496361 w 508452"/>
                  <a:gd name="connsiteY0" fmla="*/ 111308 h 801638"/>
                  <a:gd name="connsiteX1" fmla="*/ 45286 w 508452"/>
                  <a:gd name="connsiteY1" fmla="*/ 790715 h 801638"/>
                  <a:gd name="connsiteX2" fmla="*/ 12248 w 508452"/>
                  <a:gd name="connsiteY2" fmla="*/ 798151 h 801638"/>
                  <a:gd name="connsiteX3" fmla="*/ 12248 w 508452"/>
                  <a:gd name="connsiteY3" fmla="*/ 798151 h 801638"/>
                  <a:gd name="connsiteX4" fmla="*/ 2808 w 508452"/>
                  <a:gd name="connsiteY4" fmla="*/ 765702 h 801638"/>
                  <a:gd name="connsiteX5" fmla="*/ 373647 w 508452"/>
                  <a:gd name="connsiteY5" fmla="*/ 38973 h 801638"/>
                  <a:gd name="connsiteX6" fmla="*/ 473436 w 508452"/>
                  <a:gd name="connsiteY6" fmla="*/ 9904 h 801638"/>
                  <a:gd name="connsiteX7" fmla="*/ 473436 w 508452"/>
                  <a:gd name="connsiteY7" fmla="*/ 9904 h 801638"/>
                  <a:gd name="connsiteX8" fmla="*/ 496361 w 508452"/>
                  <a:gd name="connsiteY8" fmla="*/ 111308 h 801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452" h="801638">
                    <a:moveTo>
                      <a:pt x="496361" y="111308"/>
                    </a:moveTo>
                    <a:lnTo>
                      <a:pt x="45286" y="790715"/>
                    </a:lnTo>
                    <a:cubicBezTo>
                      <a:pt x="37869" y="801531"/>
                      <a:pt x="23710" y="804911"/>
                      <a:pt x="12248" y="798151"/>
                    </a:cubicBezTo>
                    <a:lnTo>
                      <a:pt x="12248" y="798151"/>
                    </a:lnTo>
                    <a:cubicBezTo>
                      <a:pt x="786" y="791391"/>
                      <a:pt x="-3260" y="777194"/>
                      <a:pt x="2808" y="765702"/>
                    </a:cubicBezTo>
                    <a:lnTo>
                      <a:pt x="373647" y="38973"/>
                    </a:lnTo>
                    <a:cubicBezTo>
                      <a:pt x="392526" y="2467"/>
                      <a:pt x="437701" y="-11053"/>
                      <a:pt x="473436" y="9904"/>
                    </a:cubicBezTo>
                    <a:lnTo>
                      <a:pt x="473436" y="9904"/>
                    </a:lnTo>
                    <a:cubicBezTo>
                      <a:pt x="508498" y="30861"/>
                      <a:pt x="519285" y="76830"/>
                      <a:pt x="496361" y="111308"/>
                    </a:cubicBezTo>
                    <a:close/>
                  </a:path>
                </a:pathLst>
              </a:custGeom>
              <a:solidFill>
                <a:srgbClr val="531588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21" name="Freeform: Shape 33">
                <a:extLst>
                  <a:ext uri="{FF2B5EF4-FFF2-40B4-BE49-F238E27FC236}">
                    <a16:creationId xmlns:a16="http://schemas.microsoft.com/office/drawing/2014/main" id="{5061AE4F-A585-674E-ACFB-6854F791070A}"/>
                  </a:ext>
                </a:extLst>
              </p:cNvPr>
              <p:cNvSpPr/>
              <p:nvPr/>
            </p:nvSpPr>
            <p:spPr>
              <a:xfrm>
                <a:off x="898589" y="2788620"/>
                <a:ext cx="483627" cy="348470"/>
              </a:xfrm>
              <a:custGeom>
                <a:avLst/>
                <a:gdLst>
                  <a:gd name="connsiteX0" fmla="*/ 212579 w 483627"/>
                  <a:gd name="connsiteY0" fmla="*/ 171035 h 348470"/>
                  <a:gd name="connsiteX1" fmla="*/ 6257 w 483627"/>
                  <a:gd name="connsiteY1" fmla="*/ 0 h 348470"/>
                  <a:gd name="connsiteX2" fmla="*/ 189 w 483627"/>
                  <a:gd name="connsiteY2" fmla="*/ 84503 h 348470"/>
                  <a:gd name="connsiteX3" fmla="*/ 69637 w 483627"/>
                  <a:gd name="connsiteY3" fmla="*/ 227145 h 348470"/>
                  <a:gd name="connsiteX4" fmla="*/ 156616 w 483627"/>
                  <a:gd name="connsiteY4" fmla="*/ 283931 h 348470"/>
                  <a:gd name="connsiteX5" fmla="*/ 248314 w 483627"/>
                  <a:gd name="connsiteY5" fmla="*/ 332605 h 348470"/>
                  <a:gd name="connsiteX6" fmla="*/ 406763 w 483627"/>
                  <a:gd name="connsiteY6" fmla="*/ 323817 h 348470"/>
                  <a:gd name="connsiteX7" fmla="*/ 483628 w 483627"/>
                  <a:gd name="connsiteY7" fmla="*/ 272439 h 348470"/>
                  <a:gd name="connsiteX8" fmla="*/ 212579 w 483627"/>
                  <a:gd name="connsiteY8" fmla="*/ 171035 h 348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3627" h="348470">
                    <a:moveTo>
                      <a:pt x="212579" y="171035"/>
                    </a:moveTo>
                    <a:cubicBezTo>
                      <a:pt x="133017" y="124389"/>
                      <a:pt x="64243" y="66251"/>
                      <a:pt x="6257" y="0"/>
                    </a:cubicBezTo>
                    <a:cubicBezTo>
                      <a:pt x="3560" y="28393"/>
                      <a:pt x="1538" y="56110"/>
                      <a:pt x="189" y="84503"/>
                    </a:cubicBezTo>
                    <a:cubicBezTo>
                      <a:pt x="-2508" y="140614"/>
                      <a:pt x="23788" y="194020"/>
                      <a:pt x="69637" y="227145"/>
                    </a:cubicBezTo>
                    <a:cubicBezTo>
                      <a:pt x="97281" y="247426"/>
                      <a:pt x="126274" y="266355"/>
                      <a:pt x="156616" y="283931"/>
                    </a:cubicBezTo>
                    <a:cubicBezTo>
                      <a:pt x="186957" y="301508"/>
                      <a:pt x="217298" y="317733"/>
                      <a:pt x="248314" y="332605"/>
                    </a:cubicBezTo>
                    <a:cubicBezTo>
                      <a:pt x="299557" y="356266"/>
                      <a:pt x="358891" y="353562"/>
                      <a:pt x="406763" y="323817"/>
                    </a:cubicBezTo>
                    <a:cubicBezTo>
                      <a:pt x="433059" y="307592"/>
                      <a:pt x="458006" y="290692"/>
                      <a:pt x="483628" y="272439"/>
                    </a:cubicBezTo>
                    <a:cubicBezTo>
                      <a:pt x="390581" y="255538"/>
                      <a:pt x="298883" y="221737"/>
                      <a:pt x="212579" y="171035"/>
                    </a:cubicBezTo>
                    <a:close/>
                  </a:path>
                </a:pathLst>
              </a:custGeom>
              <a:solidFill>
                <a:srgbClr val="531588"/>
              </a:solidFill>
              <a:ln w="67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22" name="Freeform: Shape 34">
                <a:extLst>
                  <a:ext uri="{FF2B5EF4-FFF2-40B4-BE49-F238E27FC236}">
                    <a16:creationId xmlns:a16="http://schemas.microsoft.com/office/drawing/2014/main" id="{FFD22CB1-D222-164D-B003-8135E72C75EF}"/>
                  </a:ext>
                </a:extLst>
              </p:cNvPr>
              <p:cNvSpPr/>
              <p:nvPr/>
            </p:nvSpPr>
            <p:spPr>
              <a:xfrm>
                <a:off x="1024863" y="2944106"/>
                <a:ext cx="61356" cy="119656"/>
              </a:xfrm>
              <a:custGeom>
                <a:avLst/>
                <a:gdLst>
                  <a:gd name="connsiteX0" fmla="*/ 61357 w 61356"/>
                  <a:gd name="connsiteY0" fmla="*/ 0 h 119656"/>
                  <a:gd name="connsiteX1" fmla="*/ 0 w 61356"/>
                  <a:gd name="connsiteY1" fmla="*/ 119657 h 119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1356" h="119656">
                    <a:moveTo>
                      <a:pt x="61357" y="0"/>
                    </a:moveTo>
                    <a:lnTo>
                      <a:pt x="0" y="119657"/>
                    </a:lnTo>
                  </a:path>
                </a:pathLst>
              </a:custGeom>
              <a:ln w="6725" cap="flat">
                <a:solidFill>
                  <a:srgbClr val="30134C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23" name="Freeform: Shape 35">
                <a:extLst>
                  <a:ext uri="{FF2B5EF4-FFF2-40B4-BE49-F238E27FC236}">
                    <a16:creationId xmlns:a16="http://schemas.microsoft.com/office/drawing/2014/main" id="{9705EE75-5334-5D44-AD81-4DB1FD42C562}"/>
                  </a:ext>
                </a:extLst>
              </p:cNvPr>
              <p:cNvSpPr/>
              <p:nvPr/>
            </p:nvSpPr>
            <p:spPr>
              <a:xfrm>
                <a:off x="1082849" y="2986020"/>
                <a:ext cx="68773" cy="102756"/>
              </a:xfrm>
              <a:custGeom>
                <a:avLst/>
                <a:gdLst>
                  <a:gd name="connsiteX0" fmla="*/ 68774 w 68773"/>
                  <a:gd name="connsiteY0" fmla="*/ 0 h 102756"/>
                  <a:gd name="connsiteX1" fmla="*/ 0 w 68773"/>
                  <a:gd name="connsiteY1" fmla="*/ 102756 h 102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773" h="102756">
                    <a:moveTo>
                      <a:pt x="68774" y="0"/>
                    </a:moveTo>
                    <a:lnTo>
                      <a:pt x="0" y="102756"/>
                    </a:lnTo>
                  </a:path>
                </a:pathLst>
              </a:custGeom>
              <a:ln w="6725" cap="flat">
                <a:solidFill>
                  <a:srgbClr val="30134C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</p:grp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76577961-61EF-0B42-9624-B9AEF1E0B4A6}"/>
                </a:ext>
              </a:extLst>
            </p:cNvPr>
            <p:cNvSpPr/>
            <p:nvPr/>
          </p:nvSpPr>
          <p:spPr>
            <a:xfrm>
              <a:off x="1357269" y="3674891"/>
              <a:ext cx="319595" cy="336661"/>
            </a:xfrm>
            <a:custGeom>
              <a:avLst/>
              <a:gdLst>
                <a:gd name="connsiteX0" fmla="*/ 319596 w 319595"/>
                <a:gd name="connsiteY0" fmla="*/ 176443 h 336661"/>
                <a:gd name="connsiteX1" fmla="*/ 159798 w 319595"/>
                <a:gd name="connsiteY1" fmla="*/ 336661 h 336661"/>
                <a:gd name="connsiteX2" fmla="*/ 0 w 319595"/>
                <a:gd name="connsiteY2" fmla="*/ 176443 h 336661"/>
                <a:gd name="connsiteX3" fmla="*/ 144964 w 319595"/>
                <a:gd name="connsiteY3" fmla="*/ 0 h 336661"/>
                <a:gd name="connsiteX4" fmla="*/ 319596 w 319595"/>
                <a:gd name="connsiteY4" fmla="*/ 176443 h 336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595" h="336661">
                  <a:moveTo>
                    <a:pt x="319596" y="176443"/>
                  </a:moveTo>
                  <a:cubicBezTo>
                    <a:pt x="319596" y="265003"/>
                    <a:pt x="248125" y="336661"/>
                    <a:pt x="159798" y="336661"/>
                  </a:cubicBezTo>
                  <a:cubicBezTo>
                    <a:pt x="71471" y="336661"/>
                    <a:pt x="0" y="265003"/>
                    <a:pt x="0" y="176443"/>
                  </a:cubicBezTo>
                  <a:cubicBezTo>
                    <a:pt x="0" y="87883"/>
                    <a:pt x="56637" y="0"/>
                    <a:pt x="144964" y="0"/>
                  </a:cubicBezTo>
                  <a:cubicBezTo>
                    <a:pt x="233291" y="0"/>
                    <a:pt x="319596" y="87883"/>
                    <a:pt x="319596" y="176443"/>
                  </a:cubicBezTo>
                  <a:close/>
                </a:path>
              </a:pathLst>
            </a:custGeom>
            <a:solidFill>
              <a:schemeClr val="accent5"/>
            </a:solidFill>
            <a:ln w="67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8" name="Freeform: Shape 37">
              <a:extLst>
                <a:ext uri="{FF2B5EF4-FFF2-40B4-BE49-F238E27FC236}">
                  <a16:creationId xmlns:a16="http://schemas.microsoft.com/office/drawing/2014/main" id="{A5B8A138-8C2D-6B4D-A9D5-68D40BBD8E8C}"/>
                </a:ext>
              </a:extLst>
            </p:cNvPr>
            <p:cNvSpPr/>
            <p:nvPr/>
          </p:nvSpPr>
          <p:spPr>
            <a:xfrm>
              <a:off x="1999832" y="3578896"/>
              <a:ext cx="169237" cy="169006"/>
            </a:xfrm>
            <a:custGeom>
              <a:avLst/>
              <a:gdLst>
                <a:gd name="connsiteX0" fmla="*/ 169237 w 169237"/>
                <a:gd name="connsiteY0" fmla="*/ 84503 h 169006"/>
                <a:gd name="connsiteX1" fmla="*/ 100464 w 169237"/>
                <a:gd name="connsiteY1" fmla="*/ 169007 h 169006"/>
                <a:gd name="connsiteX2" fmla="*/ 0 w 169237"/>
                <a:gd name="connsiteY2" fmla="*/ 84503 h 169006"/>
                <a:gd name="connsiteX3" fmla="*/ 84282 w 169237"/>
                <a:gd name="connsiteY3" fmla="*/ 0 h 169006"/>
                <a:gd name="connsiteX4" fmla="*/ 169237 w 169237"/>
                <a:gd name="connsiteY4" fmla="*/ 84503 h 16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37" h="169006">
                  <a:moveTo>
                    <a:pt x="169237" y="84503"/>
                  </a:moveTo>
                  <a:cubicBezTo>
                    <a:pt x="169237" y="131149"/>
                    <a:pt x="146987" y="169007"/>
                    <a:pt x="100464" y="169007"/>
                  </a:cubicBezTo>
                  <a:cubicBezTo>
                    <a:pt x="53940" y="169007"/>
                    <a:pt x="0" y="131149"/>
                    <a:pt x="0" y="84503"/>
                  </a:cubicBezTo>
                  <a:cubicBezTo>
                    <a:pt x="0" y="37858"/>
                    <a:pt x="37758" y="0"/>
                    <a:pt x="84282" y="0"/>
                  </a:cubicBezTo>
                  <a:cubicBezTo>
                    <a:pt x="130805" y="0"/>
                    <a:pt x="169237" y="37858"/>
                    <a:pt x="169237" y="84503"/>
                  </a:cubicBezTo>
                  <a:close/>
                </a:path>
              </a:pathLst>
            </a:custGeom>
            <a:solidFill>
              <a:schemeClr val="accent5"/>
            </a:solidFill>
            <a:ln w="67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9" name="Freeform: Shape 38">
              <a:extLst>
                <a:ext uri="{FF2B5EF4-FFF2-40B4-BE49-F238E27FC236}">
                  <a16:creationId xmlns:a16="http://schemas.microsoft.com/office/drawing/2014/main" id="{DA6209D2-84FD-5B42-96EC-28AAC5084AC7}"/>
                </a:ext>
              </a:extLst>
            </p:cNvPr>
            <p:cNvSpPr/>
            <p:nvPr/>
          </p:nvSpPr>
          <p:spPr>
            <a:xfrm>
              <a:off x="2168407" y="4091686"/>
              <a:ext cx="397289" cy="403021"/>
            </a:xfrm>
            <a:custGeom>
              <a:avLst/>
              <a:gdLst>
                <a:gd name="connsiteX0" fmla="*/ 377569 w 397289"/>
                <a:gd name="connsiteY0" fmla="*/ 131463 h 403021"/>
                <a:gd name="connsiteX1" fmla="*/ 277105 w 397289"/>
                <a:gd name="connsiteY1" fmla="*/ 387002 h 403021"/>
                <a:gd name="connsiteX2" fmla="*/ 22238 w 397289"/>
                <a:gd name="connsiteY2" fmla="*/ 286273 h 403021"/>
                <a:gd name="connsiteX3" fmla="*/ 93709 w 397289"/>
                <a:gd name="connsiteY3" fmla="*/ 17215 h 403021"/>
                <a:gd name="connsiteX4" fmla="*/ 377569 w 397289"/>
                <a:gd name="connsiteY4" fmla="*/ 131463 h 403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289" h="403021">
                  <a:moveTo>
                    <a:pt x="377569" y="131463"/>
                  </a:moveTo>
                  <a:cubicBezTo>
                    <a:pt x="428812" y="225431"/>
                    <a:pt x="374872" y="344412"/>
                    <a:pt x="277105" y="387002"/>
                  </a:cubicBezTo>
                  <a:cubicBezTo>
                    <a:pt x="178664" y="429591"/>
                    <a:pt x="64716" y="384297"/>
                    <a:pt x="22238" y="286273"/>
                  </a:cubicBezTo>
                  <a:cubicBezTo>
                    <a:pt x="-20240" y="187574"/>
                    <a:pt x="-4732" y="59804"/>
                    <a:pt x="93709" y="17215"/>
                  </a:cubicBezTo>
                  <a:cubicBezTo>
                    <a:pt x="191475" y="-25375"/>
                    <a:pt x="311492" y="10455"/>
                    <a:pt x="377569" y="131463"/>
                  </a:cubicBezTo>
                  <a:close/>
                </a:path>
              </a:pathLst>
            </a:custGeom>
            <a:solidFill>
              <a:schemeClr val="accent5"/>
            </a:solidFill>
            <a:ln w="67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0" name="Freeform: Shape 39">
              <a:extLst>
                <a:ext uri="{FF2B5EF4-FFF2-40B4-BE49-F238E27FC236}">
                  <a16:creationId xmlns:a16="http://schemas.microsoft.com/office/drawing/2014/main" id="{EF0C22F9-7720-9049-95FD-90A9E87C46BE}"/>
                </a:ext>
              </a:extLst>
            </p:cNvPr>
            <p:cNvSpPr/>
            <p:nvPr/>
          </p:nvSpPr>
          <p:spPr>
            <a:xfrm>
              <a:off x="170585" y="3310513"/>
              <a:ext cx="173957" cy="179823"/>
            </a:xfrm>
            <a:custGeom>
              <a:avLst/>
              <a:gdLst>
                <a:gd name="connsiteX0" fmla="*/ 173957 w 173957"/>
                <a:gd name="connsiteY0" fmla="*/ 92616 h 179823"/>
                <a:gd name="connsiteX1" fmla="*/ 86979 w 173957"/>
                <a:gd name="connsiteY1" fmla="*/ 179823 h 179823"/>
                <a:gd name="connsiteX2" fmla="*/ 0 w 173957"/>
                <a:gd name="connsiteY2" fmla="*/ 92616 h 179823"/>
                <a:gd name="connsiteX3" fmla="*/ 78213 w 173957"/>
                <a:gd name="connsiteY3" fmla="*/ 0 h 179823"/>
                <a:gd name="connsiteX4" fmla="*/ 173957 w 173957"/>
                <a:gd name="connsiteY4" fmla="*/ 92616 h 179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957" h="179823">
                  <a:moveTo>
                    <a:pt x="173957" y="92616"/>
                  </a:moveTo>
                  <a:cubicBezTo>
                    <a:pt x="173957" y="140614"/>
                    <a:pt x="134850" y="179823"/>
                    <a:pt x="86979" y="179823"/>
                  </a:cubicBezTo>
                  <a:cubicBezTo>
                    <a:pt x="39107" y="179823"/>
                    <a:pt x="0" y="140614"/>
                    <a:pt x="0" y="92616"/>
                  </a:cubicBezTo>
                  <a:cubicBezTo>
                    <a:pt x="0" y="44618"/>
                    <a:pt x="30341" y="0"/>
                    <a:pt x="78213" y="0"/>
                  </a:cubicBezTo>
                  <a:cubicBezTo>
                    <a:pt x="126085" y="0"/>
                    <a:pt x="173957" y="44618"/>
                    <a:pt x="173957" y="92616"/>
                  </a:cubicBezTo>
                  <a:close/>
                </a:path>
              </a:pathLst>
            </a:custGeom>
            <a:solidFill>
              <a:srgbClr val="E5E2F2"/>
            </a:solidFill>
            <a:ln w="67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1" name="Freeform: Shape 40">
              <a:extLst>
                <a:ext uri="{FF2B5EF4-FFF2-40B4-BE49-F238E27FC236}">
                  <a16:creationId xmlns:a16="http://schemas.microsoft.com/office/drawing/2014/main" id="{93318805-38C4-E84E-B2BB-C6ABA1A63BA3}"/>
                </a:ext>
              </a:extLst>
            </p:cNvPr>
            <p:cNvSpPr/>
            <p:nvPr/>
          </p:nvSpPr>
          <p:spPr>
            <a:xfrm>
              <a:off x="128174" y="2552562"/>
              <a:ext cx="318493" cy="322302"/>
            </a:xfrm>
            <a:custGeom>
              <a:avLst/>
              <a:gdLst>
                <a:gd name="connsiteX0" fmla="*/ 254801 w 318493"/>
                <a:gd name="connsiteY0" fmla="*/ 283380 h 322302"/>
                <a:gd name="connsiteX1" fmla="*/ 27578 w 318493"/>
                <a:gd name="connsiteY1" fmla="*/ 269859 h 322302"/>
                <a:gd name="connsiteX2" fmla="*/ 70055 w 318493"/>
                <a:gd name="connsiteY2" fmla="*/ 30546 h 322302"/>
                <a:gd name="connsiteX3" fmla="*/ 288513 w 318493"/>
                <a:gd name="connsiteY3" fmla="*/ 64347 h 322302"/>
                <a:gd name="connsiteX4" fmla="*/ 254801 w 318493"/>
                <a:gd name="connsiteY4" fmla="*/ 283380 h 322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8493" h="322302">
                  <a:moveTo>
                    <a:pt x="254801" y="283380"/>
                  </a:moveTo>
                  <a:cubicBezTo>
                    <a:pt x="185353" y="334758"/>
                    <a:pt x="78821" y="340166"/>
                    <a:pt x="27578" y="269859"/>
                  </a:cubicBezTo>
                  <a:cubicBezTo>
                    <a:pt x="-23666" y="200228"/>
                    <a:pt x="-67" y="81924"/>
                    <a:pt x="70055" y="30546"/>
                  </a:cubicBezTo>
                  <a:cubicBezTo>
                    <a:pt x="139503" y="-20832"/>
                    <a:pt x="237270" y="-5960"/>
                    <a:pt x="288513" y="64347"/>
                  </a:cubicBezTo>
                  <a:cubicBezTo>
                    <a:pt x="339082" y="133978"/>
                    <a:pt x="324249" y="232002"/>
                    <a:pt x="254801" y="283380"/>
                  </a:cubicBezTo>
                  <a:close/>
                </a:path>
              </a:pathLst>
            </a:custGeom>
            <a:solidFill>
              <a:srgbClr val="E5E2F2"/>
            </a:solidFill>
            <a:ln w="67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51671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</TotalTime>
  <Words>2173</Words>
  <Application>Microsoft Office PowerPoint</Application>
  <PresentationFormat>شاشة عريضة</PresentationFormat>
  <Paragraphs>343</Paragraphs>
  <Slides>33</Slides>
  <Notes>30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9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33</vt:i4>
      </vt:variant>
    </vt:vector>
  </HeadingPairs>
  <TitlesOfParts>
    <vt:vector size="43" baseType="lpstr">
      <vt:lpstr>ＭＳ Ｐゴシック</vt:lpstr>
      <vt:lpstr>游ゴシック</vt:lpstr>
      <vt:lpstr>Arial</vt:lpstr>
      <vt:lpstr>Calibri</vt:lpstr>
      <vt:lpstr>Calibri Light</vt:lpstr>
      <vt:lpstr>CiscoSans</vt:lpstr>
      <vt:lpstr>CiscoSans Thin</vt:lpstr>
      <vt:lpstr>Times New Roman</vt:lpstr>
      <vt:lpstr>Wingdings</vt:lpstr>
      <vt:lpstr>نسق Office</vt:lpstr>
      <vt:lpstr>عرض تقديمي في PowerPoint</vt:lpstr>
      <vt:lpstr>The Rules</vt:lpstr>
      <vt:lpstr>The Rules Communications Protocols</vt:lpstr>
      <vt:lpstr>The Rules Network Protocol Requirements</vt:lpstr>
      <vt:lpstr>The Rules Message Encoding</vt:lpstr>
      <vt:lpstr>The Rules Message Formatting and Encapsulation</vt:lpstr>
      <vt:lpstr>The Rules Message Size</vt:lpstr>
      <vt:lpstr>The Rules Message Timing</vt:lpstr>
      <vt:lpstr>The Rules Message Delivery Options</vt:lpstr>
      <vt:lpstr>3.2 Protocols</vt:lpstr>
      <vt:lpstr>Protocols Network Protocol Overview</vt:lpstr>
      <vt:lpstr>Protocols Network Protocol Functions</vt:lpstr>
      <vt:lpstr>Protocols Protocol Interaction</vt:lpstr>
      <vt:lpstr>3.3 Protocol Suites</vt:lpstr>
      <vt:lpstr>Protocol Suites Evolution of Protocol Suites</vt:lpstr>
      <vt:lpstr>Protocol Suites TCP/IP Protocol Example</vt:lpstr>
      <vt:lpstr>Protocol Suites TCP/IP Communication Process</vt:lpstr>
      <vt:lpstr>Protocol Suites TCP/IP Protocol Suite</vt:lpstr>
      <vt:lpstr>3.5 Reference Models</vt:lpstr>
      <vt:lpstr>Reference Models The Benefits of Using a Layered Model</vt:lpstr>
      <vt:lpstr>3.6 Data Encapsulation</vt:lpstr>
      <vt:lpstr>Data Encapsulation Segmenting Messages</vt:lpstr>
      <vt:lpstr>Data Encapsulation Sequencing</vt:lpstr>
      <vt:lpstr>Data Encapsulation Protocol Data Units</vt:lpstr>
      <vt:lpstr>Data Encapsulation De-encapsulation Example</vt:lpstr>
      <vt:lpstr>3.7 Data Access</vt:lpstr>
      <vt:lpstr>Data Access Addresses</vt:lpstr>
      <vt:lpstr>Data Access Layer 3 Logical Address</vt:lpstr>
      <vt:lpstr>Data Access Layer 3 Logical Address (Cont.)</vt:lpstr>
      <vt:lpstr>Data Access Devices on the Same Network</vt:lpstr>
      <vt:lpstr>Data Access Role of the Data Link Layer Addresses: Different IP Networks</vt:lpstr>
      <vt:lpstr>Data Access Role of the Data Link Layer Addresses: Different IP Networks (Cont.)</vt:lpstr>
      <vt:lpstr>Thanks for 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lenovo</dc:creator>
  <cp:lastModifiedBy>lenovo</cp:lastModifiedBy>
  <cp:revision>135</cp:revision>
  <dcterms:created xsi:type="dcterms:W3CDTF">2025-11-09T16:03:28Z</dcterms:created>
  <dcterms:modified xsi:type="dcterms:W3CDTF">2025-11-26T17:38:16Z</dcterms:modified>
</cp:coreProperties>
</file>